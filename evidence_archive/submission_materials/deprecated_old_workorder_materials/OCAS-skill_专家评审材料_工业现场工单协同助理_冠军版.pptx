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ce1d60c8df45ad" /><Relationship Type="http://schemas.openxmlformats.org/officeDocument/2006/relationships/extended-properties" Target="/docProps/app.xml" Id="R5e8de23bce2748b1" /><Relationship Type="http://schemas.openxmlformats.org/officeDocument/2006/relationships/officeDocument" Target="/ppt/presentation.xml" Id="R427f24cc86bd4b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e692be29504e9f"/>
  </p:sldMasterIdLst>
  <p:notesMasterIdLst>
    <p:notesMasterId xmlns:r="http://schemas.openxmlformats.org/officeDocument/2006/relationships" r:id="Rf331faa5b6d64ced"/>
  </p:notesMasterIdLst>
  <p:sldIdLst>
    <p:sldId xmlns:r="http://schemas.openxmlformats.org/officeDocument/2006/relationships" id="256" r:id="R3161ce51fd0c4e44"/>
    <p:sldId xmlns:r="http://schemas.openxmlformats.org/officeDocument/2006/relationships" id="257" r:id="Ra92f4a685b3e4726"/>
    <p:sldId xmlns:r="http://schemas.openxmlformats.org/officeDocument/2006/relationships" id="258" r:id="R184f64a67aa54546"/>
    <p:sldId xmlns:r="http://schemas.openxmlformats.org/officeDocument/2006/relationships" id="259" r:id="R2ad29ffbc49a4a68"/>
    <p:sldId xmlns:r="http://schemas.openxmlformats.org/officeDocument/2006/relationships" id="260" r:id="R415f55b464fe4a69"/>
    <p:sldId xmlns:r="http://schemas.openxmlformats.org/officeDocument/2006/relationships" id="261" r:id="Rfe5d59ac2a454efc"/>
    <p:sldId xmlns:r="http://schemas.openxmlformats.org/officeDocument/2006/relationships" id="262" r:id="R794df408721a4a2a"/>
    <p:sldId xmlns:r="http://schemas.openxmlformats.org/officeDocument/2006/relationships" id="263" r:id="Rd1cd464e5df945b7"/>
    <p:sldId xmlns:r="http://schemas.openxmlformats.org/officeDocument/2006/relationships" id="264" r:id="Rdcfadde43120447d"/>
    <p:sldId xmlns:r="http://schemas.openxmlformats.org/officeDocument/2006/relationships" id="265" r:id="R4bafdbbdfa4e4f0a"/>
    <p:sldId xmlns:r="http://schemas.openxmlformats.org/officeDocument/2006/relationships" id="266" r:id="R4482bf17056c4b91"/>
    <p:sldId xmlns:r="http://schemas.openxmlformats.org/officeDocument/2006/relationships" id="267" r:id="Rc698b133ac6a49f3"/>
    <p:sldId xmlns:r="http://schemas.openxmlformats.org/officeDocument/2006/relationships" id="268" r:id="R5f5dd30d996d4019"/>
    <p:sldId xmlns:r="http://schemas.openxmlformats.org/officeDocument/2006/relationships" id="269" r:id="Ra312fa24b32b4376"/>
    <p:sldId xmlns:r="http://schemas.openxmlformats.org/officeDocument/2006/relationships" id="270" r:id="R5ece4fbfbdb44b87"/>
    <p:sldId xmlns:r="http://schemas.openxmlformats.org/officeDocument/2006/relationships" id="271" r:id="R4462f7f8241841e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12eb281eba4d57" /><Relationship Type="http://schemas.openxmlformats.org/officeDocument/2006/relationships/slideMaster" Target="/ppt/slideMasters/slideMaster1.xml" Id="Rb1e692be29504e9f" /><Relationship Type="http://schemas.openxmlformats.org/officeDocument/2006/relationships/notesMaster" Target="/ppt/notesMasters/notesMaster1.xml" Id="Rf331faa5b6d64ced" /><Relationship Type="http://schemas.openxmlformats.org/officeDocument/2006/relationships/presProps" Target="/ppt/presProps.xml" Id="R24fa86d45b8a4683" /><Relationship Type="http://schemas.openxmlformats.org/officeDocument/2006/relationships/tableStyles" Target="/ppt/tableStyles.xml" Id="R84b69d34f91149fe" /><Relationship Type="http://schemas.openxmlformats.org/officeDocument/2006/relationships/slide" Target="/ppt/slides/slide1.xml" Id="R3161ce51fd0c4e44" /><Relationship Type="http://schemas.openxmlformats.org/officeDocument/2006/relationships/slide" Target="/ppt/slides/slide2.xml" Id="Ra92f4a685b3e4726" /><Relationship Type="http://schemas.openxmlformats.org/officeDocument/2006/relationships/slide" Target="/ppt/slides/slide3.xml" Id="R184f64a67aa54546" /><Relationship Type="http://schemas.openxmlformats.org/officeDocument/2006/relationships/slide" Target="/ppt/slides/slide4.xml" Id="R2ad29ffbc49a4a68" /><Relationship Type="http://schemas.openxmlformats.org/officeDocument/2006/relationships/slide" Target="/ppt/slides/slide5.xml" Id="R415f55b464fe4a69" /><Relationship Type="http://schemas.openxmlformats.org/officeDocument/2006/relationships/slide" Target="/ppt/slides/slide6.xml" Id="Rfe5d59ac2a454efc" /><Relationship Type="http://schemas.openxmlformats.org/officeDocument/2006/relationships/slide" Target="/ppt/slides/slide7.xml" Id="R794df408721a4a2a" /><Relationship Type="http://schemas.openxmlformats.org/officeDocument/2006/relationships/slide" Target="/ppt/slides/slide8.xml" Id="Rd1cd464e5df945b7" /><Relationship Type="http://schemas.openxmlformats.org/officeDocument/2006/relationships/slide" Target="/ppt/slides/slide9.xml" Id="Rdcfadde43120447d" /><Relationship Type="http://schemas.openxmlformats.org/officeDocument/2006/relationships/slide" Target="/ppt/slides/slide10.xml" Id="R4bafdbbdfa4e4f0a" /><Relationship Type="http://schemas.openxmlformats.org/officeDocument/2006/relationships/slide" Target="/ppt/slides/slide11.xml" Id="R4482bf17056c4b91" /><Relationship Type="http://schemas.openxmlformats.org/officeDocument/2006/relationships/slide" Target="/ppt/slides/slide12.xml" Id="Rc698b133ac6a49f3" /><Relationship Type="http://schemas.openxmlformats.org/officeDocument/2006/relationships/slide" Target="/ppt/slides/slide13.xml" Id="R5f5dd30d996d4019" /><Relationship Type="http://schemas.openxmlformats.org/officeDocument/2006/relationships/slide" Target="/ppt/slides/slide14.xml" Id="Ra312fa24b32b4376" /><Relationship Type="http://schemas.openxmlformats.org/officeDocument/2006/relationships/slide" Target="/ppt/slides/slide15.xml" Id="R5ece4fbfbdb44b87" /><Relationship Type="http://schemas.openxmlformats.org/officeDocument/2006/relationships/slide" Target="/ppt/slides/slide16.xml" Id="R4462f7f8241841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7c959aedfe42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848c37127e4e0a" /><Relationship Type="http://schemas.openxmlformats.org/officeDocument/2006/relationships/notesMaster" Target="/ppt/notesMasters/notesMaster1.xml" Id="R65e44a94fabb4b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357cfeef784715" /><Relationship Type="http://schemas.openxmlformats.org/officeDocument/2006/relationships/notesMaster" Target="/ppt/notesMasters/notesMaster1.xml" Id="R03dd7a55204545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07cf22ff4041ae" /><Relationship Type="http://schemas.openxmlformats.org/officeDocument/2006/relationships/notesMaster" Target="/ppt/notesMasters/notesMaster1.xml" Id="R7e7445ec697c4d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2549e35ff243e7" /><Relationship Type="http://schemas.openxmlformats.org/officeDocument/2006/relationships/notesMaster" Target="/ppt/notesMasters/notesMaster1.xml" Id="R598aed9746b64c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5c9b291a2b4940" /><Relationship Type="http://schemas.openxmlformats.org/officeDocument/2006/relationships/notesMaster" Target="/ppt/notesMasters/notesMaster1.xml" Id="R75fdf315233b4e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223a5fae0d405e" /><Relationship Type="http://schemas.openxmlformats.org/officeDocument/2006/relationships/notesMaster" Target="/ppt/notesMasters/notesMaster1.xml" Id="Rc288a3dc3b484c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625328ada640c8" /><Relationship Type="http://schemas.openxmlformats.org/officeDocument/2006/relationships/notesMaster" Target="/ppt/notesMasters/notesMaster1.xml" Id="R1319884a2dad41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7b6c19e436481d" /><Relationship Type="http://schemas.openxmlformats.org/officeDocument/2006/relationships/notesMaster" Target="/ppt/notesMasters/notesMaster1.xml" Id="Rd70792265d134f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eb811f7d5b43c5" /><Relationship Type="http://schemas.openxmlformats.org/officeDocument/2006/relationships/notesMaster" Target="/ppt/notesMasters/notesMaster1.xml" Id="R9c8ec29a8fbb4b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981495861f44ac" /><Relationship Type="http://schemas.openxmlformats.org/officeDocument/2006/relationships/notesMaster" Target="/ppt/notesMasters/notesMaster1.xml" Id="R9214fb3c96ac474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5514ada44b459f" /><Relationship Type="http://schemas.openxmlformats.org/officeDocument/2006/relationships/notesMaster" Target="/ppt/notesMasters/notesMaster1.xml" Id="Rc99bb3e803ac48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04ebc64242e4c2f" /><Relationship Type="http://schemas.openxmlformats.org/officeDocument/2006/relationships/notesMaster" Target="/ppt/notesMasters/notesMaster1.xml" Id="R212c25a1001d48f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67a6c3a297d4a64" /><Relationship Type="http://schemas.openxmlformats.org/officeDocument/2006/relationships/notesMaster" Target="/ppt/notesMasters/notesMaster1.xml" Id="R3fc40b5bceeb4e9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b1ff2cb23dd4b8f" /><Relationship Type="http://schemas.openxmlformats.org/officeDocument/2006/relationships/notesMaster" Target="/ppt/notesMasters/notesMaster1.xml" Id="R5d8d7c63f1e6479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5fe1a6889b34ae9" /><Relationship Type="http://schemas.openxmlformats.org/officeDocument/2006/relationships/notesMaster" Target="/ppt/notesMasters/notesMaster1.xml" Id="R3cc72647e93342c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717637cb7cf4c9d" /><Relationship Type="http://schemas.openxmlformats.org/officeDocument/2006/relationships/notesMaster" Target="/ppt/notesMasters/notesMaster1.xml" Id="Rf507fd3587094d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33654396184b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39c0aed5954d37" /><Relationship Type="http://schemas.openxmlformats.org/officeDocument/2006/relationships/slideLayout" Target="/ppt/slideLayouts/slideLayout1.xml" Id="R05d9e6dcc88a4f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d9e6dcc88a4f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a2d111d514437" /><Relationship Type="http://schemas.openxmlformats.org/officeDocument/2006/relationships/notesSlide" Target="/ppt/notesSlides/notesSlide1.xml" Id="Rccaa562896cd47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c4b3077db4d4d" /><Relationship Type="http://schemas.openxmlformats.org/officeDocument/2006/relationships/notesSlide" Target="/ppt/notesSlides/notesSlide2.xml" Id="Rcb9f9f1add5e43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ac53be6434740" /><Relationship Type="http://schemas.openxmlformats.org/officeDocument/2006/relationships/notesSlide" Target="/ppt/notesSlides/notesSlide3.xml" Id="R1ce663a295c54c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a500549534ab0" /><Relationship Type="http://schemas.openxmlformats.org/officeDocument/2006/relationships/notesSlide" Target="/ppt/notesSlides/notesSlide4.xml" Id="R6485f25e046d48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bde8cee024228" /><Relationship Type="http://schemas.openxmlformats.org/officeDocument/2006/relationships/notesSlide" Target="/ppt/notesSlides/notesSlide5.xml" Id="R29aea1c5083e47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8bcb6f6224c87" /><Relationship Type="http://schemas.openxmlformats.org/officeDocument/2006/relationships/notesSlide" Target="/ppt/notesSlides/notesSlide6.xml" Id="R4947134cd40f4b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22e8dffd749fb" /><Relationship Type="http://schemas.openxmlformats.org/officeDocument/2006/relationships/notesSlide" Target="/ppt/notesSlides/notesSlide7.xml" Id="Ra9118bb296e541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80315f6ec46d9" /><Relationship Type="http://schemas.openxmlformats.org/officeDocument/2006/relationships/notesSlide" Target="/ppt/notesSlides/notesSlide8.xml" Id="R0dc14c3be34b4c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0652b000642cc" /><Relationship Type="http://schemas.openxmlformats.org/officeDocument/2006/relationships/notesSlide" Target="/ppt/notesSlides/notesSlide9.xml" Id="R243b08b49e8d45d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1d5aa35b048fa" /><Relationship Type="http://schemas.openxmlformats.org/officeDocument/2006/relationships/notesSlide" Target="/ppt/notesSlides/notesSlide10.xml" Id="R570f65c29b284a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d3ddba0c44bbc" /><Relationship Type="http://schemas.openxmlformats.org/officeDocument/2006/relationships/notesSlide" Target="/ppt/notesSlides/notesSlide11.xml" Id="Rbeb298d702e2478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c9f04e7ce4a0b" /><Relationship Type="http://schemas.openxmlformats.org/officeDocument/2006/relationships/notesSlide" Target="/ppt/notesSlides/notesSlide12.xml" Id="R640d44902cb2410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c92da3ba64cdd" /><Relationship Type="http://schemas.openxmlformats.org/officeDocument/2006/relationships/notesSlide" Target="/ppt/notesSlides/notesSlide13.xml" Id="R33d15fff136e416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0c2c100984715" /><Relationship Type="http://schemas.openxmlformats.org/officeDocument/2006/relationships/notesSlide" Target="/ppt/notesSlides/notesSlide14.xml" Id="R337d2309f8aa4e0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10853e27341b4" /><Relationship Type="http://schemas.openxmlformats.org/officeDocument/2006/relationships/notesSlide" Target="/ppt/notesSlides/notesSlide15.xml" Id="Rc9f647549fdb459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f42f05ac6486a" /><Relationship Type="http://schemas.openxmlformats.org/officeDocument/2006/relationships/notesSlide" Target="/ppt/notesSlides/notesSlide16.xml" Id="R13b7f4a975dd43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5E4740-8CF1-4970-AD4E-2ED76452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3143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8315F-4D36-4229-A61A-82E5CAAB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2876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2026 iFLYTEK AI开发者大赛 / OCAS-skill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7BF8A-3BBE-42AC-8B9F-39F8DB4D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工业现场工单协同助理 Skill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80AB5-FA6E-4C6E-B1EF-EA9804A5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把制造业现场记录转化为工单、待办、审批、复盘和周报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98EFC-2D0C-4D82-91BC-A5326958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Skill 名称：industrial-workorder-collaboration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B0B05-1A9B-4CB8-A5CD-F1E038F0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876300"/>
            <a:ext cx="3238500" cy="4000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0C171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AABDD3-AC28-4ACB-9BE5-230301BC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33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现场信息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4BFDF-3486-4C23-B0CD-B45B5A36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2000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C91E6-301F-45EE-9996-4EFDD92F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6690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语音转写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4D554A-9F42-4AC4-8CEE-7BBC2971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38375"/>
            <a:ext cx="2000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4E6BF-B925-4CC9-A8A1-098BAF74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9552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巡检记录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0FAA88-440E-4CD8-AA84-80D307AC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67000"/>
            <a:ext cx="2000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31FD5-1003-4A33-BE23-3D34BCDE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设备故障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379E90-DF28-409E-A2EA-9DF54F91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95625"/>
            <a:ext cx="2000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FA3A14-F7F7-4722-A5B9-4EC7D019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5277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质量异常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ABC469-F0A9-4C43-8158-C0D3884A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2000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249920-D57B-4DF0-BD52-041B86C4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8140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EHS隐患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AFC0AA-5EB1-4BA2-BE65-E88E547F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52875"/>
            <a:ext cx="2000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917EBF-17CB-4638-BCA1-1A7D67FC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1002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班组交接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AF8363-CB43-4A8A-8DD6-90B1D5F9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6050"/>
            <a:ext cx="91440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9965A0-05B0-4F70-805D-0C5478AB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6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办公协同闭环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0EB871-513E-4F2F-86C4-3F3F9596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专家榜满分证据版</a:t>
            </a:r>
          </a:p>
        </p:txBody>
      </p:sp>
    </p:spTree>
    <p:extLst>
      <p:ext uri="{BB962C8B-B14F-4D97-AF65-F5344CB8AC3E}">
        <p14:creationId xmlns:p14="http://schemas.microsoft.com/office/powerpoint/2010/main" val="12056282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095CB7-EE6B-4277-83AD-BDA9DAE7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OCAS-SKILL /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FCD92-DF97-404F-8699-43EFD49D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赛题理解：办公协同的真实断点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32191-8CC8-4F19-8A91-024C6AF0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制造业的办公协同从现场事实进入后台流程开始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75835-B209-4B19-B6A7-A105A4A0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FEBDD-E419-4B65-A92C-7062D8BF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2385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CB619-8635-4CB3-9A8E-AC89AFF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5DFC4-8EB2-4465-A63C-3E6DE612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现场记录碎片化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F6D3E8-6DA1-4E9B-A6A2-7871B637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2705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语音、微信群、纸质点检、交接班记录分散，后续整理靠人工。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F8D4C-0E37-491F-AF2B-51024D6A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14500"/>
            <a:ext cx="32385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AD2853-6686-4ED3-8756-3CE49820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52625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3A950-E10E-4911-A15B-37776772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765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跨部门责任不清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CC50F-5BCB-452E-803F-DA620302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48000"/>
            <a:ext cx="2705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生产部、质量、工程、安全、PMC 分别补材料，责任方和验收标准容易丢失。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CA8238-BD18-4C4D-B3D6-74CF930E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14500"/>
            <a:ext cx="32385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42B91A-48A4-41A3-80C8-2EE1E942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E9BE4B-F014-453E-A98A-79B05B55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风险被误写成结论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F49FB4-2462-4C78-90D2-BEE20508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2705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初步怀疑常被写成根因，质量放行和安全许可存在越权风险。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30B040-A4A3-485B-93BA-40D4EB39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本作品选择的不是通用会议纪要，而是“现场信息 -&gt; 工单/待办/审批/复盘/周报”的高频办公协同链路。</a:t>
            </a:r>
          </a:p>
        </p:txBody>
      </p:sp>
    </p:spTree>
    <p:extLst>
      <p:ext uri="{BB962C8B-B14F-4D97-AF65-F5344CB8AC3E}">
        <p14:creationId xmlns:p14="http://schemas.microsoft.com/office/powerpoint/2010/main" val="4522821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6E441D-A812-4865-AB02-4AA5C9FA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OCAS-SKILL /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D4EA0-B490-4636-A5D7-295B7F35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作品概览：现场记录到办公协同资产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5BFEB-DF84-492F-9301-27D43AFD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输入多源现场事实，输出可执行的结构化协同材料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C313C-66E6-42BC-82AA-3666C564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21783-BDE1-48CC-81FB-2C032F97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3143250" cy="33337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87DC5-F103-4E30-9A00-A91DB67D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AC151-C5C0-4F4E-A04A-90434FA7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0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43D10-262D-459B-B4FF-DA6C24BD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241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现场语音转写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A462F9-E6F2-4F55-A0FD-8588FCD8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643E68-EBC7-4E3D-BC74-02077D2A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巡检/点检记录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396D42-45AB-415A-802D-A7E6C5E6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67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F1FD41-40A3-48B9-A53C-55FEF906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设备故障描述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933011-097F-4379-9199-0B235AFD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AD1E09-12F8-4B10-9EEC-4AB5FF28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质量异常说明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8893B2-4877-4904-89E9-24152D6B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5DCAF4-340C-4B9C-ADF2-D0D31236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576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EHS 隐患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7DC1F7-90DB-4B00-9487-1311CD36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2D4931-BC0C-4539-86E8-9DD23B54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SKU 换线记录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632ACE-5199-428C-9698-DBDE0B76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000375"/>
            <a:ext cx="104775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2D2503-BE3A-43C9-BD7A-BE2D9E22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762125"/>
            <a:ext cx="5334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BE2BC4-00E8-47D7-B7B5-8077F0BC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002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491D9A-F1EC-4852-B3B6-AA9E7B9F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71750"/>
            <a:ext cx="20955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4C2614-973F-4475-9F1E-58253E79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76525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工单草案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6ED2CF-F280-4E09-A217-EC2A3D4E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571750"/>
            <a:ext cx="20955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D39D0B-DE77-4280-B055-468438AE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676525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跨部门待办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FA4454-321B-453E-A344-23625523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38500"/>
            <a:ext cx="20955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411A5F-4488-4977-8DDC-509BDFD7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43275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复盘纪要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5FA918-6238-452C-BA9B-466F3489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238500"/>
            <a:ext cx="20955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86EA05-9795-4AFC-BC3B-D3A7D1EF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343275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审批/整改说明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753CD9-8ACC-4D1F-86BE-031E6D65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905250"/>
            <a:ext cx="20955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B86614-0BA7-433F-8EEB-067D374A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10025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管理周报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D346E2-AB86-4AE4-AFD2-0809357F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905250"/>
            <a:ext cx="20955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844151-0C07-4868-8AE8-F04DB75E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10025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可复制同步消息</a:t>
            </a:r>
          </a:p>
        </p:txBody>
      </p:sp>
    </p:spTree>
    <p:extLst>
      <p:ext uri="{BB962C8B-B14F-4D97-AF65-F5344CB8AC3E}">
        <p14:creationId xmlns:p14="http://schemas.microsoft.com/office/powerpoint/2010/main" val="18775325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3BF816-9028-419F-9311-BED22FA2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OCAS-SKILL /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E05E9-1F02-4124-8783-4591B66F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场景路由：生产部牵头跨部门协同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26980-83D2-4143-958D-8FEF4486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生产部作为事件 Owner，拉通质量、工程、EHS、PMC 和维修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8B6FF-11BE-4BA6-B991-E5344029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D3DF9-1BFF-45F4-BF62-F974E148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975104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9F296-9601-4FE2-8E70-2991415D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71650"/>
            <a:ext cx="1784604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AEBD9-9B3A-44B7-9032-3E985268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704" y="1695450"/>
            <a:ext cx="2962656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235E6-8C5B-4CC6-A4DC-C327F265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954" y="1771650"/>
            <a:ext cx="2772156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默认输出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93088-C868-44F5-89C7-5F40074D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7360" y="1695450"/>
            <a:ext cx="2633472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73CBCA-329B-432E-B12C-32711B47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1771650"/>
            <a:ext cx="244297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关键部门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736281-C28D-4D94-AA4E-6B7932F3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0832" y="1695450"/>
            <a:ext cx="3401568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6C5CF-274A-4F75-8A53-F0E8999C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6082" y="1771650"/>
            <a:ext cx="321106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必须关注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9AD322-C40A-41E1-AF95-59DA1B68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975104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E2DB21-A917-4DB7-B1B4-130EEA46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1784604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设备维修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F56086-241F-46E5-8088-38978C63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704" y="2171700"/>
            <a:ext cx="2962656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ADA6E7-C9AE-4C9C-8A24-1FD71AE6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954" y="2247900"/>
            <a:ext cx="2772156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生产部工单 + 维修待办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02169C-5E69-486C-8A54-E2F051D9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7360" y="2171700"/>
            <a:ext cx="2633472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02964B-DB6D-4DF5-AB8B-13D76881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2247900"/>
            <a:ext cx="244297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生产 / 维修 / 工程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843990-5A57-470A-9534-2FAAD7A7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0832" y="2171700"/>
            <a:ext cx="3401568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D41592-DCA5-497C-9EAF-9D817E6C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6082" y="2247900"/>
            <a:ext cx="321106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停机影响、试运行标准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469AA2-AE90-461E-AC25-3A5DB5CC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975104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9FD612-A4BE-43B3-8CE8-2B9B4379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784604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质量异常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78B663-4ECC-49EF-B692-F6DE33C2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704" y="2647950"/>
            <a:ext cx="2962656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FDB845-9117-4AC8-81CD-51F803F1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954" y="2724150"/>
            <a:ext cx="2772156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隔离 / 复检待办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9FE70F-473F-4088-A595-7049EAF8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7360" y="2647950"/>
            <a:ext cx="2633472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869AAD-9BC3-4F97-8F5E-127552D3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2724150"/>
            <a:ext cx="244297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生产 / 质量 / 仓库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44E606-A1C7-4288-9922-1707F4C9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0832" y="2647950"/>
            <a:ext cx="3401568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4FCDA1-9FC6-43EA-921C-81FE1413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6082" y="2724150"/>
            <a:ext cx="321106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批次、放行权限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051E70-CDCD-4903-B72E-D8E281AC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975104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F448B4-F435-4689-849E-113D530F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1784604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EHS安全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086916-BC8A-4CD8-9050-BD0B79BE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704" y="3124200"/>
            <a:ext cx="2962656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0CC9D0-7E00-4BDA-A07D-867C3617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954" y="3200400"/>
            <a:ext cx="2772156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整改说明 + 风险提示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71BA56-3D1E-41BB-BD58-7F8024D7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7360" y="3124200"/>
            <a:ext cx="2633472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E7905F-FDB4-45B0-BDCA-26E4535E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3200400"/>
            <a:ext cx="244297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生产 / EHS / 班组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3467E6-AF8A-4CC3-B958-D2D14713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0832" y="3124200"/>
            <a:ext cx="3401568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1BD2F2-F5F9-4E5A-9AB8-C7C78E4C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6082" y="3200400"/>
            <a:ext cx="321106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先隔离风险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B4BA35-AEC0-4261-AB7B-1B2CCC2F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975104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8F7319-8226-4A6E-907C-81412D68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784604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PMC排产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7395FD-0BE4-4268-AFBC-3EB8485A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704" y="3600450"/>
            <a:ext cx="2962656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3BBD8A-D796-49F3-94B4-3B0C110B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954" y="3676650"/>
            <a:ext cx="2772156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交期影响 + 排产协同包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E1C3DC-BEFC-4AB2-B1D2-E92A4E7A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7360" y="3600450"/>
            <a:ext cx="2633472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15C4E8-E6C0-42A3-8046-64AAA18E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3676650"/>
            <a:ext cx="244297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生产 / PMC / 仓库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6A2198-99AE-44A2-9C5D-C545EA11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0832" y="3600450"/>
            <a:ext cx="3401568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E72040-4FB2-4781-AB39-0F3D24C5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6082" y="3676650"/>
            <a:ext cx="321106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产能、物料、客户承诺边界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913DE66-E5F1-4014-B35A-E940BC37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975104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7DB9CF9-0E6C-4DF6-AB29-5166AC4D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1784604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工艺变更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98E9C27-0AB1-4CD5-AB55-705B2565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704" y="4076700"/>
            <a:ext cx="2962656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F500E2C-A247-4778-97AF-FD19B3B5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954" y="4152900"/>
            <a:ext cx="2772156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临时变更事实包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BEDB79B-1264-424E-97F6-7E1D1623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7360" y="4076700"/>
            <a:ext cx="2633472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80E676-3749-4BFB-8534-D40D0DE3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4152900"/>
            <a:ext cx="244297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生产 / 工程 / 质量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968D824-EFA3-4F96-A333-D809C05A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0832" y="4076700"/>
            <a:ext cx="3401568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18A636-0705-44F8-84DB-AE438D4C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6082" y="4152900"/>
            <a:ext cx="321106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版本、首件确认、试产验证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451CF78-31D1-46C1-BC9E-4B1D7534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975104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043F178-EBB0-415B-972B-90D89554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1784604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会议交接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0A8A80A-D885-470D-B42F-0CB580E9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704" y="4552950"/>
            <a:ext cx="2962656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DC1293C-2059-4BEB-97E6-8BA9E2F2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954" y="4629150"/>
            <a:ext cx="2772156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纪要 / 周报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C812ADE-2D7B-49C7-898D-CF459454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7360" y="4552950"/>
            <a:ext cx="2633472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A144783-F2A2-4884-B397-FD3EDD31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4629150"/>
            <a:ext cx="244297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生产牵头多部门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4A192E6-4D29-48A9-A9B1-E97AADF1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0832" y="4552950"/>
            <a:ext cx="3401568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55A277F-198E-499B-AE30-FE53F236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6082" y="4629150"/>
            <a:ext cx="321106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未关闭事项</a:t>
            </a:r>
          </a:p>
        </p:txBody>
      </p:sp>
    </p:spTree>
    <p:extLst>
      <p:ext uri="{BB962C8B-B14F-4D97-AF65-F5344CB8AC3E}">
        <p14:creationId xmlns:p14="http://schemas.microsoft.com/office/powerpoint/2010/main" val="17606072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1305E2-E069-4746-8FEE-BC6E8D70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OCAS-SKILL /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54009-8010-4A5E-87FB-C027E64C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核心机制：事实分层 + 质量门禁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B7D6F-0A2B-46CF-B3C8-02B6A060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降低误判、编造和越权风险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698E4-C934-4F17-ABA9-77FFF69B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C49FE-4C52-4CB2-94AE-D90463F8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143250" cy="1476375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47B98-1C9F-4C9F-857E-891B17BA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已确认事实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DD6F6D-8B52-4F76-809F-E74BA2EA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2619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用户明确给出的时间、设备、地点、现象、数值、批次、动作。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6AB5D-97F6-4119-A1B0-E147A9C5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3143250" cy="1476375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DD2F24-E2E6-494C-BB5D-8BF845B3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95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合理推断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D75BB6-FFB0-4712-A399-15B4D3FD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52700"/>
            <a:ext cx="2619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可从上下文推断但必须标注为可能、初步、需确认。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94D60F-77CF-4552-8001-BEA937BF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143250" cy="1476375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242045-F61A-4983-B9F6-A5623D0C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待确认信息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5C942-9A4B-4F0A-B3D4-7D0106AC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52700"/>
            <a:ext cx="2619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影响派工、审批、质量放行、安全判断、交付承诺的信息。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6DA231-E4C8-4D7D-B321-07DACEEB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015A54-51E5-4334-8120-E7247BBB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输出质量门禁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DAC90E-B2FA-4984-B887-2F24D58A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24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BFA781-FD75-43F2-8C7B-E791DD6B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481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每个行动项必须有责任方、动作、输入依据、截止时间和验收标准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C524F9-69D9-407A-BAB2-61AAE0BA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48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719242-680C-4E13-8F67-53113E76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719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安全、质量、生产影响和数据合规必须显式提示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3A1CE0-229C-4A0F-B1FE-26A7AB9A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72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247643-7BC8-4825-AB5A-6FFB1BA3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6958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不编造根因、责任人、审批结论或已完成状态</a:t>
            </a:r>
          </a:p>
        </p:txBody>
      </p:sp>
    </p:spTree>
    <p:extLst>
      <p:ext uri="{BB962C8B-B14F-4D97-AF65-F5344CB8AC3E}">
        <p14:creationId xmlns:p14="http://schemas.microsoft.com/office/powerpoint/2010/main" val="4307845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2EB688-6213-4D49-B69B-009368B1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OCAS-SKILL /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6C7F3-98D9-4A90-8550-9B864633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Demo 案例：一段现场记录变成协同闭环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C1404-3438-47E5-B6B6-26F24655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贴标机漏贴停线 + 质量复检 + 生产恢复窗口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DB342-E98D-4ED3-9C23-73CF1CFD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4ED7AD-EEFF-45E6-8925-EE0D46BB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953000" cy="3667125"/>
          </a:xfrm>
          <a:prstGeom xmlns:a="http://schemas.openxmlformats.org/drawingml/2006/main" prst="roundRect">
            <a:avLst>
              <a:gd name="adj" fmla="val 15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C3DC2-1D55-4867-880E-78710626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57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D50C3-FDB7-442E-9E1B-329C2D3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438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三号包装线贴标机 14:20 开始频繁漏贴，更换标签卷后仍异常；停线 18 分钟，质检发现 32 箱需要复检。维修怀疑传感器位置偏移但未确认，生产希望 15:30 前恢复。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C1409-5324-4FF4-9DD8-E01CDCB6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438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关键：传感器偏移只能作为合理推断，32 箱未复检前不能建议放行。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98FE3-99E0-4066-B477-03F7302C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334000" cy="3667125"/>
          </a:xfrm>
          <a:prstGeom xmlns:a="http://schemas.openxmlformats.org/drawingml/2006/main" prst="roundRect">
            <a:avLst>
              <a:gd name="adj" fmla="val 15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C59EE-F2C9-4F1B-8C35-8D875E5D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57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3B20D8-26CB-4C49-9940-245B2EBC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81250"/>
            <a:ext cx="104775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05B321-5CE7-441E-9669-8F73D46B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5745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责任方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C48DCF-47E3-4810-B3A5-854CFD80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81250"/>
            <a:ext cx="190500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ACD423-7A89-4801-9CBA-38B4B685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574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待办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65217C-ABB2-4B27-9CFA-DFC21F04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81250"/>
            <a:ext cx="180975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583190-55C0-4952-AB0E-E43301B0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574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验收标准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269103-55F3-4EF2-BA54-89E741CA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104775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602779-B4DD-4F28-99D0-EF8CD7CD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7180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维修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60D0EF-A9AC-4385-A512-79FFCE05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95600"/>
            <a:ext cx="190500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7BF6B2-8698-4570-BDFE-845FC460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71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校准贴标传感器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8A2EE0-F136-49B8-B707-8BFDF168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95600"/>
            <a:ext cx="180975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0D6BDE-35DF-4553-B097-78246346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718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试运行无漏贴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F4260C-4319-46A8-94B2-E9E2AE3E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09950"/>
            <a:ext cx="104775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83B8C6-E711-4106-8484-7065444F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8615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质量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99B95A-FC47-4FB7-AF0B-B9D6A67D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09950"/>
            <a:ext cx="190500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09274E-E7E9-4E23-BB9F-BB9733CC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861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隔离并复检32箱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EB301B-1FAC-4C4E-A812-A7374878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09950"/>
            <a:ext cx="180975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99BDAA-C7B0-47CD-8586-EEACF844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861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形成放行/返工记录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9D5ABD-CBF6-49DF-8692-64CCF4FD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24300"/>
            <a:ext cx="104775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F5F7B4-9824-4463-9E66-9AE355C8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0050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生产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BA42C1-280A-436A-8869-6A6D091F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24300"/>
            <a:ext cx="190500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67618C-0726-4BA1-9962-102C7A98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005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确认恢复窗口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539E4E-75AA-4DBC-95A1-5BEE7866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24300"/>
            <a:ext cx="180975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F8F17B-AEC1-41C1-8971-96A8F49D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005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明确产量影响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437B21-0A07-45EE-9D83-03E38C8E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386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另输出：工单草案、已确认事实、合理推断、风险提示、待确认信息、可复制同步消息。</a:t>
            </a:r>
          </a:p>
        </p:txBody>
      </p:sp>
    </p:spTree>
    <p:extLst>
      <p:ext uri="{BB962C8B-B14F-4D97-AF65-F5344CB8AC3E}">
        <p14:creationId xmlns:p14="http://schemas.microsoft.com/office/powerpoint/2010/main" val="16073424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D50666-64F4-4904-83FB-63BFDDBA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OCAS-SKILL /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97A95-3D11-4CC3-8756-11BB68BD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鲁棒性：39 个测试用例覆盖关键边界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3E60C-EB30-41EA-99BC-059CB718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以测试矩阵证明稳定性，而不是只展示一个理想样例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B8CA1-71DD-4FA5-8C70-78FD2194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C0B37-FD71-4556-B65C-5A60EC85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20002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96246-98EA-4899-859E-3E879D19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7167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28476-1127-48FD-A902-3B61197E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测试用例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CB990-8B5A-4B11-BFCE-23D85291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762125"/>
            <a:ext cx="20002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929725-59D5-4EC1-BEF5-6A58F0D3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97167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AC750-F0FA-43A8-AB12-680849FC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476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场景类型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E1EC09-8C4D-434E-B28E-EA7CFE8C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762125"/>
            <a:ext cx="23812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E5582A-8F3D-46FD-8F8A-6090B369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716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F95BC4-984D-43A8-ACB2-179013D2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76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允许的危险操作输出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D6A8C4-3923-4762-AD01-7823FC2D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762125"/>
            <a:ext cx="27622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6A3FB4-D75A-4C24-932E-65664A33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9716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AAFC1D-B91F-4B0E-99F6-0C46665C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476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必拍实测截图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06B4C3-65B5-4218-A2F2-EDC11EC0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42316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AD21D8-D4F1-48B8-96B6-F9B25F93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22326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覆盖类型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436203-9534-4A6F-9D17-7605870D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143250"/>
            <a:ext cx="161544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E5DDA3-04AD-4F4D-B06C-4A27CC95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3219450"/>
            <a:ext cx="14249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用例数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A0D44F-71B4-438A-9CD4-D7F6AA1F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43250"/>
            <a:ext cx="605790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255555-C3E8-44E9-8483-D495433C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19450"/>
            <a:ext cx="586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代表场景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C88447-F28D-4D83-89AE-2C80FC89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242316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0EB292-3954-4F6F-9FA3-95F8BC00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22326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设备维修/备件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DEEEB3-D63C-44B6-8F62-7E0470E6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486150"/>
            <a:ext cx="161544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C3258D-B783-4CE5-83B1-74FF7F77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3562350"/>
            <a:ext cx="14249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9F3365-EB8D-4DD5-8DA0-BDE48A6D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86150"/>
            <a:ext cx="605790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41A307-F10B-459C-A0DD-BC80BD3C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62350"/>
            <a:ext cx="586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贴标机、注塑机、空压机、预测维护、备件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3C793D-1067-4601-B151-1C099520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242316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AC09A5-E1F5-4C68-85E9-3F044F94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22326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质量异常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E2CEEB-5E9A-4789-95DE-9B59B91F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829050"/>
            <a:ext cx="161544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845960-6A23-4185-A5A9-C2BE3860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3905250"/>
            <a:ext cx="14249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FA936D-9394-424D-825F-0C8F6ABB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29050"/>
            <a:ext cx="605790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EE793D-B45D-4D0B-81B6-7B1194BC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905250"/>
            <a:ext cx="586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批次划伤、首件尺寸、客诉、混料风险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10516B-343E-4342-B383-A0CF46E2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42316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4C34D2-BFEB-401C-8B39-416C3378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48150"/>
            <a:ext cx="22326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EHS安全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955E51-BD78-4F99-A28E-1532B2F3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4171950"/>
            <a:ext cx="161544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0D2E60-9BBF-4B62-84FC-59E2084A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248150"/>
            <a:ext cx="14249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B24A5F-4FB0-4696-B1A3-395F71C3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71950"/>
            <a:ext cx="605790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10D973-999D-4660-9BCF-D661490E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48150"/>
            <a:ext cx="586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消防通道、带电检修、化学品泄漏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13C906-8DF4-406D-AB94-DBB96149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242316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D6A7F7-A33A-4B5D-82B4-AB36CB41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22326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换线会议交接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03E823-E408-4399-82B1-51F2FB93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4514850"/>
            <a:ext cx="161544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617C98-2F1C-4950-BF8B-3729F28D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591050"/>
            <a:ext cx="14249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AAF4D7D-AE94-4060-AA70-36818B06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14850"/>
            <a:ext cx="605790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A57116-4F70-46C7-84CD-B7D521EF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91050"/>
            <a:ext cx="586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参数版本、复盘、周会、交接、周报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8B783B-11EA-450E-8FFE-4E063361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42316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732CE5E-0DB9-441C-9805-EEAA378F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33950"/>
            <a:ext cx="22326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企业动作边界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5C6E829-7B33-4A70-9AFD-C0FE04ED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4857750"/>
            <a:ext cx="161544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AB9E9D5-3407-4347-A0FF-32CE1031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933950"/>
            <a:ext cx="14249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29FFBF-6F4D-4C69-A8A7-59B75D5A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57750"/>
            <a:ext cx="605790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E11E2FB-ED41-4C9A-8803-F35D8667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33950"/>
            <a:ext cx="586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外部同步、知识沉淀、隐私治理、状态更新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271478E-8EEB-4E67-AA20-C7B798C8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242316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6FC175E-224B-4BAB-B333-4FA3CFD8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76850"/>
            <a:ext cx="22326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高级鲁棒性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4A37513-1B06-485C-B0C9-270C533E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5200650"/>
            <a:ext cx="161544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0912AB9-8DB4-46B1-836D-5407EA5D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5276850"/>
            <a:ext cx="14249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F6076D7-1B4F-48B3-82B7-322D54BE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200650"/>
            <a:ext cx="605790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34F3D28-8279-438E-99FA-0D337748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276850"/>
            <a:ext cx="586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诊断、编排、信号、降级、自评、对抗、噪声、冲突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CCFA1B1-E25B-43E1-9064-D1DF4BC4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242316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60FDDB7-7057-424D-9F2B-3BC953CD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22326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现场执行/工单质量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BCBCC64-10BD-4205-8B5F-45EADD62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5543550"/>
            <a:ext cx="161544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ED4C024-3DA2-4AFF-B43D-76F04337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5619750"/>
            <a:ext cx="14249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500B82C-B567-40D3-B294-EDF9CD5C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543550"/>
            <a:ext cx="605790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DA23D73-323A-45B6-987E-7AB09695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619750"/>
            <a:ext cx="586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维修派工执行包、关闭工单数据质量门禁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F5D096E-EE8C-40F4-9A95-2E18CDB3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242316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9851133-2A15-4A1C-ADCB-946A549B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22326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生产部跨部门协同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425DEF1-B4B3-40F4-ACB4-C9945584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5886450"/>
            <a:ext cx="161544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46EB834-837B-49E1-BF42-1EF26F82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5962650"/>
            <a:ext cx="14249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8DFCE96-51BE-4223-ADFF-09055449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886450"/>
            <a:ext cx="605790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4831510-AD8E-41DD-8A7B-7C213DB1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962650"/>
            <a:ext cx="586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PMC交期、工程变更、质量/安全/PMC日清闭环</a:t>
            </a:r>
          </a:p>
        </p:txBody>
      </p:sp>
    </p:spTree>
    <p:extLst>
      <p:ext uri="{BB962C8B-B14F-4D97-AF65-F5344CB8AC3E}">
        <p14:creationId xmlns:p14="http://schemas.microsoft.com/office/powerpoint/2010/main" val="8690047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8F93F7-E9E7-4A5B-B980-FD3737E1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OCAS-SKILL /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5B7307-EDC7-4EAA-BA98-90006C53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评分证据矩阵：用例直接对应官方分项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CBD5F-677D-4CF9-A532-C15F0161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39 个用例映射到 6 个专家评分项，避免只靠主观描述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CB8DE-10DC-4E98-AA07-CE1576F2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13C58-66B6-4656-9B48-F0C9FA67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2414016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70363-9840-40E7-9D7A-70791B9E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2223516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官方分项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94CC9-F260-4816-B635-507633DD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616" y="1638300"/>
            <a:ext cx="1097280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BD2EB-C68A-44C4-B4CC-9DC8623A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866" y="1714500"/>
            <a:ext cx="90678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满分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45D4F-684E-4E89-BEF8-356C3F2C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896" y="1638300"/>
            <a:ext cx="4169664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69475-0885-431D-A34A-59DC773D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146" y="1714500"/>
            <a:ext cx="3979164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包内证据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7A11B3-2B86-4F5E-821B-CEDED68D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1638300"/>
            <a:ext cx="3291840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49FF1A-25AB-4F94-83E3-47A6A9A4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1714500"/>
            <a:ext cx="310134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提交后证据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7FF84E-6562-4B65-9183-87353360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2414016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39D16B-1284-4896-A3B7-B1652AE2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2223516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稳定性/鲁棒性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2D6A5C-45C7-4833-BD2A-8EB8C94C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616" y="2162175"/>
            <a:ext cx="1097280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869A9B-DB2B-4F2B-A02E-0E5030BC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866" y="2238375"/>
            <a:ext cx="90678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A117B8-368C-4AED-93A0-FF1B51B4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896" y="2162175"/>
            <a:ext cx="4169664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F95A96-0D28-4DE1-AA02-1EF37255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146" y="2238375"/>
            <a:ext cx="3979164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39用例、自检脚本、评分脚本、异常边界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3825EB-2F4C-4643-A631-77C0224E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2162175"/>
            <a:ext cx="3291840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182780-97F7-4CA3-8F2C-C684E810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2238375"/>
            <a:ext cx="310134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T01/T06/T11/T28/T33/T36/T39截图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B28515-6DA8-4764-AF81-E15B2FD9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414016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85B38E-F8DB-4626-B2DE-AE1C6738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2223516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创新/应用价值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861C2B-481B-4AF0-A3A0-9275CF7E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616" y="2686050"/>
            <a:ext cx="1097280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B9333E-E9FB-480C-9AC3-EBED6A42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866" y="2762250"/>
            <a:ext cx="90678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266C2D-40F1-4AED-8AFE-95430C10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896" y="2686050"/>
            <a:ext cx="4169664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4B23FD-1E68-409F-B701-069843A5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146" y="2762250"/>
            <a:ext cx="3979164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现场到工单/审批/周报的垂直闭环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D7962A-FBAF-4D57-A77F-B08B39F2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2686050"/>
            <a:ext cx="3291840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F5EB53-EC02-475B-A13A-2F4069EB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2762250"/>
            <a:ext cx="310134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脱敏试用反馈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F3094F-9980-417A-8E26-D181E09D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2414016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7C754C-9AF2-4CDB-9827-15A4D5B8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86125"/>
            <a:ext cx="2223516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结果质量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F152F9-61B7-4BE1-9B22-E7826D4D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616" y="3209925"/>
            <a:ext cx="1097280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0827DC-94C0-4126-A9EA-DAA049C9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866" y="3286125"/>
            <a:ext cx="90678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4EBF1E-A162-4788-9FE6-22F875EE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896" y="3209925"/>
            <a:ext cx="4169664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00E9EE-13B7-4A60-9438-B9D696B9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146" y="3286125"/>
            <a:ext cx="3979164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事实分层、证据索引、候选诊断、验收标准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D87387-9484-49DB-8506-E2D9B13B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3209925"/>
            <a:ext cx="3291840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F15ECA-400F-4CB3-BFC6-F838A317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3286125"/>
            <a:ext cx="310134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T21/T25/T34/T35/T37截图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C999F4-44B9-4F1C-A320-75E29068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2414016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2A05A4-92AA-404C-9FD7-6986C65F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2223516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技术设计/编排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6BD78A-B99D-4DEF-8A1C-B1209249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616" y="3733800"/>
            <a:ext cx="1097280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300095-C98D-4FAF-BB83-1166F124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866" y="3810000"/>
            <a:ext cx="90678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92B247-2E2C-4341-8856-FB5C56FD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896" y="3733800"/>
            <a:ext cx="4169664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BCEC751-D653-445A-B12E-A4D92FED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146" y="3810000"/>
            <a:ext cx="3979164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生产部牵头路由、Schema、动作卡、幂等和回执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11B3AD-CE5E-47BB-BEA3-272A1D58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3733800"/>
            <a:ext cx="3291840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05FFF1-C242-49FF-9DBF-492A80B5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3810000"/>
            <a:ext cx="310134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多系统动作卡实测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524DABF-B709-489C-A53D-E2E57192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2414016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F624C88-A485-480C-BF81-C6547A2C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2223516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工程文档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2FA752-E874-4610-ACE9-D4CE59B2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616" y="4257675"/>
            <a:ext cx="1097280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99BBF4E-F05D-49DF-B42C-B400FDAA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866" y="4333875"/>
            <a:ext cx="90678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371EE2C-6D2F-4322-B8B0-0B0AD2F2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896" y="4257675"/>
            <a:ext cx="4169664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E78BA09-FD4A-4DEF-83D5-0F26D422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146" y="4333875"/>
            <a:ext cx="3979164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README、templates、tests、rubric矩阵、日志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090A679-2912-48E4-83D4-4A2637EC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4257675"/>
            <a:ext cx="3291840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0D6BE84-ED3F-4CC6-908F-ABA1B40E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4333875"/>
            <a:ext cx="310134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上传前校验截图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E798B92-41C8-4D1D-8074-D7DDCB46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14016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CB5BDED-6743-4D43-973B-4320988D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2223516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安全合规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5A8308F-3D81-474C-ACCA-A9F6B484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616" y="4781550"/>
            <a:ext cx="1097280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ABA5CB9-C727-4637-92C6-BFAC168A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866" y="4857750"/>
            <a:ext cx="90678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85B1A2D-91D0-497D-8122-B03A89C4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896" y="4781550"/>
            <a:ext cx="4169664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582AF41-132A-4C05-8821-55C1700C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146" y="4857750"/>
            <a:ext cx="3979164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脱敏、拒绝越权、提示注入防护、刷量拒绝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291FDD7-71F0-4F25-A490-4503DB9E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4781550"/>
            <a:ext cx="3291840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7F7A2F4-5774-4A2D-837C-52BD9D2E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4857750"/>
            <a:ext cx="310134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T11/T30/T31截图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E886983-13E9-4AD3-BE83-2919FC24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95D8950-4DA9-491D-A404-73EBD36E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新增文件：tests/rubric_evidence_matrix.csv；自检脚本已强制检查 39 个用例与评分矩阵完全覆盖。</a:t>
            </a:r>
          </a:p>
        </p:txBody>
      </p:sp>
    </p:spTree>
    <p:extLst>
      <p:ext uri="{BB962C8B-B14F-4D97-AF65-F5344CB8AC3E}">
        <p14:creationId xmlns:p14="http://schemas.microsoft.com/office/powerpoint/2010/main" val="12836352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183498-C187-49D0-A86E-1084463A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OCAS-SKILL /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0B254-075A-48C4-A7C3-0459388C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能力升级：从文本整理到执行闭环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0F1B4-F02A-42CB-A095-BE2D2EF0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核心是边界、证据、动作、人审和可回放测试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47EBD-2F70-4B1E-A93C-1FA1C1C1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532DC-96F6-40A2-B0E7-65C8BB71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953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E945B-C888-4468-9506-C806841C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能力包结构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AA30D-3809-4E71-93E4-B1767F0E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主指令保持精炼，长模板、测试、脚本和证据材料按需加载。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21E98-9F01-4BA3-A9AA-7846DFBE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95450"/>
            <a:ext cx="4953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FBFAE-2792-4514-AA84-031BAA6D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905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边界与权限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7028DF-2047-411F-9C08-7B744F99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860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只引用输入和授权数据，质量、安全、客户承诺必须进入人审。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CD037B-5E64-4B9F-A418-22697B11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4953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7D6263-1EAF-4847-96FD-3152D400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动作执行门禁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A7DB11-D5AC-429E-BEA4-A75FE784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外部动作区分字段、权限、准备度、幂等键、回执和失败回退。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564B4A-A5B4-4817-8995-F7675C5D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219450"/>
            <a:ext cx="4953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8FF49C-996F-459F-9859-D0C5DFA3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429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维修知识闭环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8EE2B1-063C-4633-BAFF-F1627727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8100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相似记录、候选诊断、验证动作和关闭证据沉淀为候选知识。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E59DDA-6BFD-441F-A014-0AA8ED04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已落地：动作准备度门禁、闭环学习、相似问题对比、外部系统动作卡、39 项测试矩阵。</a:t>
            </a:r>
          </a:p>
        </p:txBody>
      </p:sp>
    </p:spTree>
    <p:extLst>
      <p:ext uri="{BB962C8B-B14F-4D97-AF65-F5344CB8AC3E}">
        <p14:creationId xmlns:p14="http://schemas.microsoft.com/office/powerpoint/2010/main" val="17353398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A3DDF3-E782-4421-8B07-14F5A06B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OCAS-SKILL /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D3DBE-56F6-499D-B47C-108652FD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动作准备度门禁：不把草稿伪装成已执行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44BA5-6973-40CF-84CE-99EB2DF3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对接 CMMS/QMS/EHS/OA 前先判断是否可提交、需确认或需授权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8B268-A397-40EB-99A8-8E8FCD25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55ED8-88F9-4FCF-9801-6BDEC49B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633472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6B8D6-3EF9-469E-90CE-3DB5CC44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2442972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4CD47-9B7C-40C7-9099-12B0FC56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072" y="1714500"/>
            <a:ext cx="4718304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FC8FF-0E19-412A-8972-6EE101C6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322" y="1790700"/>
            <a:ext cx="4527804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使用条件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23DE63-63B4-4F61-B445-2768B115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1376" y="1714500"/>
            <a:ext cx="3621024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47B1EC-60AB-4450-9327-92CD457A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6626" y="1790700"/>
            <a:ext cx="3430524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输出姿态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A80D5B-F2F9-4019-A828-CFC92CD4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633472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CB1070-73B8-40B7-97CF-9DA65806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2442972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ready_to_submit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273158-AF10-4105-9063-13C79937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072" y="2343150"/>
            <a:ext cx="4718304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6EE732-F4B6-46DE-A1C9-E0C32650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322" y="2419350"/>
            <a:ext cx="4527804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字段完整且不涉及高风险授权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D8877F-3710-431F-884B-42644885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1376" y="2343150"/>
            <a:ext cx="3621024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45079C-54AC-4CC7-8A01-B6F3C774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6626" y="2419350"/>
            <a:ext cx="3430524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可生成提交材料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94E1A3-9088-4BC6-B5F5-BA8DEFC2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633472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485CF2-272F-48E1-9AA3-4BFBDFF0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2442972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needs_confirmation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A1647A-7CAA-4746-9991-414DA3A4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072" y="2971800"/>
            <a:ext cx="4718304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6F225C-5211-463C-8E74-A5846000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322" y="3048000"/>
            <a:ext cx="4527804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目标、接收人、时间或附件仍需确认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EB9EBC-9B88-4F53-A8E5-4D65C230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1376" y="2971800"/>
            <a:ext cx="3621024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652051-2ED3-4528-9922-F6FD892B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6626" y="3048000"/>
            <a:ext cx="3430524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列出确认项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6049CE-842B-4C00-BE46-7A797E28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2633472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CA0278-BB98-407D-BE16-D9AFCECF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2442972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requires_authorization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9E8005-9510-459C-BFB7-1CE9974E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072" y="3600450"/>
            <a:ext cx="4718304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21BC5B-8F1E-45CE-A0A4-0A780F1E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322" y="3676650"/>
            <a:ext cx="4527804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质量放行、安全许可、客户承诺、正式发布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E418C4-3F92-4F48-A05B-62001337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1376" y="3600450"/>
            <a:ext cx="3621024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83A939-1AA9-4434-A6A4-A1156839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6626" y="3676650"/>
            <a:ext cx="3430524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生成审批事实包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5D9C69-484E-424F-A1A0-A096A533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2633472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7B80D6-305D-4B7C-AF95-67F3C344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2442972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blocked_missing_fields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9B39D2-17BC-4112-80C4-463DB363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072" y="4229100"/>
            <a:ext cx="4718304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C368B4-9E4B-4837-B332-A28F088E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322" y="4305300"/>
            <a:ext cx="4527804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缺少关键字段，执行会误导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F97C09-B060-4900-9E95-03B00F39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1376" y="4229100"/>
            <a:ext cx="3621024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265CA2-3E45-4AF0-9B00-DA836564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6626" y="4305300"/>
            <a:ext cx="3430524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阻止声称已同步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737C77-3980-4815-AA24-CF540ACC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17B32E-1E1D-489F-AE7F-1B07CB8D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专家价值：这一页直接回应“支持多插件/多工具协同，易用性”和“无越权行为、数据处理合规”。</a:t>
            </a:r>
          </a:p>
        </p:txBody>
      </p:sp>
    </p:spTree>
    <p:extLst>
      <p:ext uri="{BB962C8B-B14F-4D97-AF65-F5344CB8AC3E}">
        <p14:creationId xmlns:p14="http://schemas.microsoft.com/office/powerpoint/2010/main" val="9172990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ECC7C9-8D38-47E3-AEAF-2393BB54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OCAS-SKILL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1130E-A04E-4AA7-A920-25A06B8A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闭环学习：从已关闭工单沉淀候选知识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746A9-494F-4A99-B059-A26660AF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相似记录、故障模式和关闭证据进入候选知识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E62AE8-2EAB-42EE-A530-A37D5114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BBEE2-085A-4ACE-8A3E-5F4DFCFD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857500" cy="31432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75612-68D1-4E1D-BF54-BA65E355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0FC5D9-0144-4EC2-8836-793ECF99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B215D4-E54A-466D-BECB-ABFB2A57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已关闭工单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0C185-A725-44D1-B612-2A4715FB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8A78A2-C295-4B4F-8AB1-B416A152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复盘结论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69DDA1-4E76-4E50-895A-7373F3AB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3F083A-DA9B-40C2-96F7-2C74F4F2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SOP 更新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7E1401-C0E2-44B5-B461-3AB0866D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6B3FE3-211C-46C8-BD1A-D92515C9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复检/复测证据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3F3676-0FA9-4285-A687-1D92DAF0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5181D7-CA02-4365-B78B-E54CD44B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767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EHS 整改闭环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EFF01B-2639-43BA-AF75-C386A301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114300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4414AF-FFB6-4B71-9A2F-32ADCDA7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695450"/>
            <a:ext cx="59055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368F73-FC4F-4756-BB9B-EAF91E4C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526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候选知识条目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FE890B-CDC1-4002-8E84-23BE0A1C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76500"/>
            <a:ext cx="169164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14AE62-E7E0-421F-BE32-B47F8E39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52700"/>
            <a:ext cx="15011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E8FD69-76E7-4117-9DED-58B21A82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0890" y="2476500"/>
            <a:ext cx="3594735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B12DEF-8AF8-462E-B373-95EE51FB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140" y="2552700"/>
            <a:ext cx="340423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要求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BACC65-4E61-4F35-82EE-FE1A184C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33700"/>
            <a:ext cx="169164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9B49D9-BC82-460A-AB9B-1E8CF762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09900"/>
            <a:ext cx="15011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可复用经验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12ED26-7055-4C61-ADC6-D50B477A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0890" y="2933700"/>
            <a:ext cx="3594735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5A28DB-4F6F-4F65-8AAD-81EF22F3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140" y="3009900"/>
            <a:ext cx="340423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必须基于已验证证据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5AD0F8-5616-420F-BFEC-8558D08F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90900"/>
            <a:ext cx="169164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04526C-1A0E-4625-BE7F-E3919CF3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67100"/>
            <a:ext cx="15011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适用/不适用范围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0B34D1-83DE-4463-B549-B1008B17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0890" y="3390900"/>
            <a:ext cx="3594735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BC192E-5FA7-4BE8-B80B-39ABA0F0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140" y="3467100"/>
            <a:ext cx="340423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防止把历史问题错误套用到新问题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BFCC92-1F8C-42F8-A48A-1B103D69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48100"/>
            <a:ext cx="169164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E3E39B-065A-4B35-98FA-6B16BD64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24300"/>
            <a:ext cx="15011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待复核证据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FD8D86-0EA0-4E2F-9603-3D640FE1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0890" y="3848100"/>
            <a:ext cx="3594735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71AB1C-C869-40CC-9C79-29D386CE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140" y="3924300"/>
            <a:ext cx="340423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未确认根因和措施不能写成 SOP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825FEE-16A8-470B-B6BB-B27BFC5B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05300"/>
            <a:ext cx="169164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86F7E6-DAC8-4209-901B-A7FE167E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81500"/>
            <a:ext cx="15011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触发关键词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115BB8-B7D4-4108-8677-CE029454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0890" y="4305300"/>
            <a:ext cx="3594735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92CC8E-1664-4EDF-A566-D9A31129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140" y="4381500"/>
            <a:ext cx="340423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方便后续相似工单检索</a:t>
            </a:r>
          </a:p>
        </p:txBody>
      </p:sp>
    </p:spTree>
    <p:extLst>
      <p:ext uri="{BB962C8B-B14F-4D97-AF65-F5344CB8AC3E}">
        <p14:creationId xmlns:p14="http://schemas.microsoft.com/office/powerpoint/2010/main" val="11523671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B8CAEE-4F4C-49B1-8761-9A6E0507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OCAS-SKILL /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08599-E7E8-4AA0-A9F4-3B316195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工程规范：可重复校验的 Skill 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5DB55-6D64-419E-B979-B57A90CC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用包体自检和结构化资源支撑工程完整性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735D7F-FBC5-4457-B841-D8AA3304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A3E9CB-C2B6-472B-B408-74FD677D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429125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1EE10-1567-4C99-9BC0-48162255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383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SKILL.md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9A2D5-2744-432E-B94A-D39C4B38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695450"/>
            <a:ext cx="4429125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10144-5913-4F66-B94B-EDDF4143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383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README.md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3A73BF-B95E-46F1-BB2A-583C1936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429125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980A2-20F5-450E-B1F8-DEA0BD18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examples/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228A75-3EE6-4ED7-9C75-F82D03B8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76500"/>
            <a:ext cx="4429125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FD874C-77A9-4CE2-8176-C56CA364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193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templates/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B5E7A-3FFA-4075-BB80-BD82EC98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4429125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FC5A0F-46E8-44B2-BF3E-69374F2C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04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references/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4CC854-4FF3-4786-9AE4-7D428AEC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57550"/>
            <a:ext cx="4429125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2286C7-B1C6-483B-BA0C-5F93793F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004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tests/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7F579-64E1-4D98-9F9B-6815D5F2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4429125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66DD26-5E45-4C8A-B8C1-69F6B02C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814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scripts/validate_package.py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CE9A3E-236E-4858-BAF0-BCEDB964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038600"/>
            <a:ext cx="4429125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A642FD-D083-4DF0-9830-D26E97A5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1814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rubric_evidence_matrix.csv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9808AC-560A-4484-A02D-DBF26AA8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自检脚本覆盖：frontmatter、JSON、39 个测试用例、敏感信息、文件扩展名、包体大小、ZIP 结构。</a:t>
            </a:r>
          </a:p>
        </p:txBody>
      </p:sp>
    </p:spTree>
    <p:extLst>
      <p:ext uri="{BB962C8B-B14F-4D97-AF65-F5344CB8AC3E}">
        <p14:creationId xmlns:p14="http://schemas.microsoft.com/office/powerpoint/2010/main" val="21385021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28410A-1B0B-4236-BAA2-36C21B8D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OCAS-SKILL /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2959F-1C5B-43EC-9EBB-714C89EA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安全合规：边界清楚，拒绝越权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EA441-D9E0-4E58-89C7-FBC15443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高风险场景保守处理，避免把 AI 输出当授权结论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F4722-51BE-4796-B68C-42391C67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EB0FCF-6AFF-4592-98B6-1AF45715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4953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29190-B775-4379-A247-470478E5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907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不替代授权判断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4B25E8-7C4B-4F22-B14E-52CF5780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不直接批准质量放行、安全许可或审批结论。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4AD23-5ECC-44DD-9F0D-A07DC43F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762125"/>
            <a:ext cx="4953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B08B4A-0FB2-421F-8C24-984B1451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9907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不输出危险步骤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2BDA3-AEE5-4A0A-B536-C84BCDCA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81250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拒绝带电检修、绕过联锁、解除防护等危险操作建议。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FE8F00-F7A2-46D9-A034-9FF4C97B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4953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F49028-70B5-4047-91CF-752166C9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99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不编造事实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8B9AC-A45C-4C5C-A719-D1F30DB7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不编造根因、责任人、客户名、批次号和完成状态。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7513A-1D7D-4B38-ADDF-176FE32D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381375"/>
            <a:ext cx="4953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11E674-75F1-4C47-A1E6-73356A79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6099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隐私与数据脱敏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927107-A7E5-4224-B00F-AA9C3C1A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00500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客户、人员、手机号、账号、密钥等敏感信息不完整复述。</a:t>
            </a:r>
          </a:p>
        </p:txBody>
      </p:sp>
    </p:spTree>
    <p:extLst>
      <p:ext uri="{BB962C8B-B14F-4D97-AF65-F5344CB8AC3E}">
        <p14:creationId xmlns:p14="http://schemas.microsoft.com/office/powerpoint/2010/main" val="4047235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DA1759-41B5-4B9E-97B4-81DD9E0E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OCAS-SKILL /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081AEF-072F-4DE5-B735-E82346BF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落地价值：连接聊天通知与业务系统留痕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831E7-66A6-40D7-A03B-8EFB575B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生产部用统一事件包拉通 MES、CMMS、QMS、EHS、SAP/ERP、OA 和 PMC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E4725-347B-4BAC-A7CA-FAA888CB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EECB4-3FE4-4D1A-B9F4-04E7250C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162050"/>
            <a:ext cx="21336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B1641-E52C-447E-A27A-9E7E63E5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33350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CMMS 维修工单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6B6527-2D82-4173-8279-A23D261F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7545" y="1761859"/>
            <a:ext cx="21336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D2390-0444-4243-8173-6B047607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945" y="1933309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MES 生产影响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382AB5-B290-4C38-BBD5-D2F8F263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209925"/>
            <a:ext cx="21336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095BD-B1D9-4501-A20A-858D9336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38137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QMS 质量复检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C3A33-FAF3-43D6-B4E5-CAF1F1E8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7545" y="4657991"/>
            <a:ext cx="21336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418880-CC1F-47C4-9AE1-844D4BAB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945" y="4829441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EHS 作业许可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1DAA8A-B29E-4316-B36F-36B4B00D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57800"/>
            <a:ext cx="21336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A7A73F-9300-45F8-B236-7144B673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4292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SAP/ERP 物料订单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FACC23-0695-462C-BD7D-A5943F17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855" y="4657991"/>
            <a:ext cx="21336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412595-72B1-4E87-AD07-F197B502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3255" y="4829441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OA 审批说明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81E3E5-32F2-4C6E-BD0F-8EFFE86A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209925"/>
            <a:ext cx="21336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F07FDC-33F6-479C-A0FE-D4327935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38137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PMC 排产交期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FBB01F-CA88-4AA5-B648-859027DE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855" y="1761859"/>
            <a:ext cx="21336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AB8861-9620-4C3D-A8A8-70D59179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3255" y="1933309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企微/飞书/钉钉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BE38BE-543B-485E-910A-3CA3C601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667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C171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BAE99A-172C-48A4-AA60-F1BECF29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146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统一事件包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FEB65B-0A59-4E01-A21C-729D1E82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2425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FF3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DFF3E9"/>
                </a:solidFill>
                <a:latin typeface="Microsoft YaHei"/>
                <a:ea typeface="Microsoft YaHei"/>
                <a:cs typeface="Microsoft YaHei"/>
              </a:rPr>
              <a:t>通知、留痕、回执</a:t>
            </a:r>
          </a:p>
        </p:txBody>
      </p:sp>
    </p:spTree>
    <p:extLst>
      <p:ext uri="{BB962C8B-B14F-4D97-AF65-F5344CB8AC3E}">
        <p14:creationId xmlns:p14="http://schemas.microsoft.com/office/powerpoint/2010/main" val="138641956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279635-A9D9-44D4-9EF2-FA62FFE9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OCAS-SKILL /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C3C383-23F7-493C-BDBB-9E4444AA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官方评分项逐项回应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396C3-48DD-4264-818F-59B2659C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每个分值点都有对应设计和证据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DF41A-74AF-4059-A280-9B0F56E8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70835F-0056-430F-973E-078F013C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072384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0DB75-F2F3-4843-9F60-9CA4B7A8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2881884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评分项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92E65F-88E6-405F-9154-C2773DC7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984" y="1638300"/>
            <a:ext cx="7900416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CDDC7-1C45-42B3-A2FE-B98B667C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234" y="1714500"/>
            <a:ext cx="7709916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40168F-A2EF-4F75-9E1B-A14B5D41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072384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50FD44-891B-47C6-A26D-586EF452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2881884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运行稳定性与鲁棒性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A69293-88BF-40D9-A5BC-BDB3FEE7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984" y="2190750"/>
            <a:ext cx="7900416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67286-14E4-41E4-8DAC-C59D71BF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234" y="2266950"/>
            <a:ext cx="7709916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39个测试用例、自检脚本、评分矩阵、实际调用截图待采集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ECDC27-BFCC-4207-A411-635079B7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3072384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A46BEF-A0AA-47A0-AB89-4FB240F1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19400"/>
            <a:ext cx="2881884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创新性和应用价值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61E603-9D2F-4488-9067-B32066B9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984" y="2743200"/>
            <a:ext cx="7900416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555E5B-B718-478F-B39F-2B8A29F3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234" y="2819400"/>
            <a:ext cx="7709916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工业现场到办公协同的垂直高频切口，多场景闭环和企业级安全边界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560FFE-CFEA-444A-BA78-AB3B55E3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3072384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8BF1C6-49C5-4B4A-935E-4836F6E8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2881884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结果质量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86AEA0-91A6-45E4-AA11-700912A7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984" y="3295650"/>
            <a:ext cx="7900416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595290-95CA-4690-B898-35B3438E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234" y="3371850"/>
            <a:ext cx="7709916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事实/推断/待确认分层，行动项含责任方、验收标准和准备度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20DA9E-593E-474B-B441-21DDBA27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3072384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170BF0-091F-4B97-9178-FEEBEBF2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2881884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技术设计与场景编排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05F460-F37C-4595-B48D-A72247AF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984" y="3848100"/>
            <a:ext cx="7900416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69FFA3-DEBC-4912-9ADB-E1BDF5FC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234" y="3924300"/>
            <a:ext cx="7709916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场景路由、Schema、动作卡、准备度门禁、闭环学习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34FACA-B03A-48FF-9279-19C0FE6C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3072384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9D28DA-12C6-4CC2-941C-F81368D4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2881884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工程规范与文档完整性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759732-D333-499A-A8E4-2A86F68E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984" y="4400550"/>
            <a:ext cx="7900416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B8546E-CEDF-42F3-BF38-37326F88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234" y="4476750"/>
            <a:ext cx="7709916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README、examples、templates、references、tests、scripts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FD8C35-5436-4A9D-93C0-99D130ED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072384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280855-6809-4684-884C-48F69CAC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2881884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安全合规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E49055-54C5-43F2-BB74-E603BF4F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984" y="4953000"/>
            <a:ext cx="7900416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802FB1-D884-40A9-8A0D-A2D1AA1E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234" y="5029200"/>
            <a:ext cx="7709916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脱敏、SOP边界、拒绝越权放行和危险操作</a:t>
            </a:r>
          </a:p>
        </p:txBody>
      </p:sp>
    </p:spTree>
    <p:extLst>
      <p:ext uri="{BB962C8B-B14F-4D97-AF65-F5344CB8AC3E}">
        <p14:creationId xmlns:p14="http://schemas.microsoft.com/office/powerpoint/2010/main" val="19368257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009E7C-1ABD-477C-8F65-413CB5FE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OCAS-SKILL / 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412CA-C5E6-4406-9FCB-CB5B720C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下一步证据采集计划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BC8B9-8220-4986-BFA7-01985C17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夺冠剩余分数来自真实运行和反馈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6DC075-BD5B-4DC9-9164-10722E97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EA655-C3C5-45A2-9AC6-388C6FE3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43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61735-A6C3-4F80-9184-9FE74BFC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66875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通过赛题页上传 ZIP，保存报名和提交截图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EEAEA-407A-41A1-A01B-BF241F8A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19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40E2D-49BF-4489-B61C-6AECCE24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43125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审核通过后保存 SkillHub 作品页和下载/收藏数据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D0C726-3B0C-41F2-A60A-08DB5EB0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95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DEC19-5A2B-430E-A454-3EFE8A8A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在 AstronClaw 跑 39 个测试用例，记录成功率、耗时、错误和重试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5B5C5A-8D05-49A2-B23E-A88BACDA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71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F9137C-BAC5-4CC3-967C-0CE0C46E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95625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优先保存 T01/T06/T11/T21/T24/T25/T27/T28/T29/T30/T31 调用截图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24D3C7-02A7-42CC-9A86-97D97F26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48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433A6F-E09A-4DE9-AB17-E4A86124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71875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补充 T33/T34/T35/T36/T37/T38/T39，证明鲁棒性和生产部跨部门协同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5266F9-A0E2-4D68-89D8-FEE80CCD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6D1B64-78A9-49AB-809D-D035273B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48125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录制 60-90 秒 Demo 视频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7CBC46-A181-411B-A8E0-D58D0883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297826-8317-48E1-BBBA-D138EC4B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24375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收集制造业/AI 开发者真实试用反馈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E3DE56-F755-45EF-A633-5BF44938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22860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55D8E0-2AF7-474E-A97E-00A1F1B7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3812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DDF3AD-F7C4-4A33-ADE9-5440036C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0375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专家榜</a:t>
            </a:r>
          </a:p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100分证据闭环</a:t>
            </a:r>
          </a:p>
        </p:txBody>
      </p:sp>
    </p:spTree>
    <p:extLst>
      <p:ext uri="{BB962C8B-B14F-4D97-AF65-F5344CB8AC3E}">
        <p14:creationId xmlns:p14="http://schemas.microsoft.com/office/powerpoint/2010/main" val="5363930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2026-06-16T06:15:40.1650000Z</dcterms:created>
  <dcterms:modified xsi:type="dcterms:W3CDTF">2026-06-16T06:15:40.1650000Z</dcterms:modified>
</coreProperties>
</file>