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d38be05c164ab3" /><Relationship Type="http://schemas.openxmlformats.org/officeDocument/2006/relationships/extended-properties" Target="/docProps/app.xml" Id="Rbf972ffe24104834" /><Relationship Type="http://schemas.openxmlformats.org/officeDocument/2006/relationships/officeDocument" Target="/ppt/presentation.xml" Id="Rad3458e57f4b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715f608f5f4820"/>
  </p:sldMasterIdLst>
  <p:notesMasterIdLst>
    <p:notesMasterId xmlns:r="http://schemas.openxmlformats.org/officeDocument/2006/relationships" r:id="R158e888996c24f89"/>
  </p:notesMasterIdLst>
  <p:sldIdLst>
    <p:sldId xmlns:r="http://schemas.openxmlformats.org/officeDocument/2006/relationships" id="256" r:id="R9152732375594ae5"/>
    <p:sldId xmlns:r="http://schemas.openxmlformats.org/officeDocument/2006/relationships" id="257" r:id="R163564b241424008"/>
    <p:sldId xmlns:r="http://schemas.openxmlformats.org/officeDocument/2006/relationships" id="258" r:id="R0988efdd8c7f434d"/>
    <p:sldId xmlns:r="http://schemas.openxmlformats.org/officeDocument/2006/relationships" id="259" r:id="Rbd1067e5f1b940e9"/>
    <p:sldId xmlns:r="http://schemas.openxmlformats.org/officeDocument/2006/relationships" id="260" r:id="R198dadd59a7c463a"/>
    <p:sldId xmlns:r="http://schemas.openxmlformats.org/officeDocument/2006/relationships" id="261" r:id="Rdd9b63739f21408b"/>
    <p:sldId xmlns:r="http://schemas.openxmlformats.org/officeDocument/2006/relationships" id="262" r:id="R074a0b80b4184408"/>
    <p:sldId xmlns:r="http://schemas.openxmlformats.org/officeDocument/2006/relationships" id="263" r:id="R30e5b5a49a034c26"/>
    <p:sldId xmlns:r="http://schemas.openxmlformats.org/officeDocument/2006/relationships" id="264" r:id="R0111383ac3ab4691"/>
    <p:sldId xmlns:r="http://schemas.openxmlformats.org/officeDocument/2006/relationships" id="265" r:id="Rc5bee578b15c4f8c"/>
    <p:sldId xmlns:r="http://schemas.openxmlformats.org/officeDocument/2006/relationships" id="266" r:id="Ra9907be3907c4224"/>
    <p:sldId xmlns:r="http://schemas.openxmlformats.org/officeDocument/2006/relationships" id="267" r:id="R7a1e4873d20946bf"/>
    <p:sldId xmlns:r="http://schemas.openxmlformats.org/officeDocument/2006/relationships" id="268" r:id="Rb796d112f17b458c"/>
    <p:sldId xmlns:r="http://schemas.openxmlformats.org/officeDocument/2006/relationships" id="269" r:id="R8eebd74dbfdb44a2"/>
    <p:sldId xmlns:r="http://schemas.openxmlformats.org/officeDocument/2006/relationships" id="270" r:id="Rfaae188cefc74b88"/>
    <p:sldId xmlns:r="http://schemas.openxmlformats.org/officeDocument/2006/relationships" id="271" r:id="Rf8a4683bcb8444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60c120c5594b0d" /><Relationship Type="http://schemas.openxmlformats.org/officeDocument/2006/relationships/slideMaster" Target="/ppt/slideMasters/slideMaster1.xml" Id="R85715f608f5f4820" /><Relationship Type="http://schemas.openxmlformats.org/officeDocument/2006/relationships/notesMaster" Target="/ppt/notesMasters/notesMaster1.xml" Id="R158e888996c24f89" /><Relationship Type="http://schemas.openxmlformats.org/officeDocument/2006/relationships/presProps" Target="/ppt/presProps.xml" Id="R4d040aefb0ce4b79" /><Relationship Type="http://schemas.openxmlformats.org/officeDocument/2006/relationships/tableStyles" Target="/ppt/tableStyles.xml" Id="R20278df3a217414c" /><Relationship Type="http://schemas.openxmlformats.org/officeDocument/2006/relationships/slide" Target="/ppt/slides/slide1.xml" Id="R9152732375594ae5" /><Relationship Type="http://schemas.openxmlformats.org/officeDocument/2006/relationships/slide" Target="/ppt/slides/slide2.xml" Id="R163564b241424008" /><Relationship Type="http://schemas.openxmlformats.org/officeDocument/2006/relationships/slide" Target="/ppt/slides/slide3.xml" Id="R0988efdd8c7f434d" /><Relationship Type="http://schemas.openxmlformats.org/officeDocument/2006/relationships/slide" Target="/ppt/slides/slide4.xml" Id="Rbd1067e5f1b940e9" /><Relationship Type="http://schemas.openxmlformats.org/officeDocument/2006/relationships/slide" Target="/ppt/slides/slide5.xml" Id="R198dadd59a7c463a" /><Relationship Type="http://schemas.openxmlformats.org/officeDocument/2006/relationships/slide" Target="/ppt/slides/slide6.xml" Id="Rdd9b63739f21408b" /><Relationship Type="http://schemas.openxmlformats.org/officeDocument/2006/relationships/slide" Target="/ppt/slides/slide7.xml" Id="R074a0b80b4184408" /><Relationship Type="http://schemas.openxmlformats.org/officeDocument/2006/relationships/slide" Target="/ppt/slides/slide8.xml" Id="R30e5b5a49a034c26" /><Relationship Type="http://schemas.openxmlformats.org/officeDocument/2006/relationships/slide" Target="/ppt/slides/slide9.xml" Id="R0111383ac3ab4691" /><Relationship Type="http://schemas.openxmlformats.org/officeDocument/2006/relationships/slide" Target="/ppt/slides/slide10.xml" Id="Rc5bee578b15c4f8c" /><Relationship Type="http://schemas.openxmlformats.org/officeDocument/2006/relationships/slide" Target="/ppt/slides/slide11.xml" Id="Ra9907be3907c4224" /><Relationship Type="http://schemas.openxmlformats.org/officeDocument/2006/relationships/slide" Target="/ppt/slides/slide12.xml" Id="R7a1e4873d20946bf" /><Relationship Type="http://schemas.openxmlformats.org/officeDocument/2006/relationships/slide" Target="/ppt/slides/slide13.xml" Id="Rb796d112f17b458c" /><Relationship Type="http://schemas.openxmlformats.org/officeDocument/2006/relationships/slide" Target="/ppt/slides/slide14.xml" Id="R8eebd74dbfdb44a2" /><Relationship Type="http://schemas.openxmlformats.org/officeDocument/2006/relationships/slide" Target="/ppt/slides/slide15.xml" Id="Rfaae188cefc74b88" /><Relationship Type="http://schemas.openxmlformats.org/officeDocument/2006/relationships/slide" Target="/ppt/slides/slide16.xml" Id="Rf8a4683bcb8444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5d91206e004f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5e3c9505524b78" /><Relationship Type="http://schemas.openxmlformats.org/officeDocument/2006/relationships/notesMaster" Target="/ppt/notesMasters/notesMaster1.xml" Id="R181c4a7247704a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e2e62f3da1435c" /><Relationship Type="http://schemas.openxmlformats.org/officeDocument/2006/relationships/notesMaster" Target="/ppt/notesMasters/notesMaster1.xml" Id="R1bbb336371cb49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e720eaae924bd2" /><Relationship Type="http://schemas.openxmlformats.org/officeDocument/2006/relationships/notesMaster" Target="/ppt/notesMasters/notesMaster1.xml" Id="Reed16169477442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85beb770ae497a" /><Relationship Type="http://schemas.openxmlformats.org/officeDocument/2006/relationships/notesMaster" Target="/ppt/notesMasters/notesMaster1.xml" Id="R47b0fa1e85e8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dda8342dde4156" /><Relationship Type="http://schemas.openxmlformats.org/officeDocument/2006/relationships/notesMaster" Target="/ppt/notesMasters/notesMaster1.xml" Id="Ra0215aea6ed9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80825ffa794b06" /><Relationship Type="http://schemas.openxmlformats.org/officeDocument/2006/relationships/notesMaster" Target="/ppt/notesMasters/notesMaster1.xml" Id="R226b80b3be4846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7a45220b144177" /><Relationship Type="http://schemas.openxmlformats.org/officeDocument/2006/relationships/notesMaster" Target="/ppt/notesMasters/notesMaster1.xml" Id="R4b701d82784b4e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ce76888cdd4cbf" /><Relationship Type="http://schemas.openxmlformats.org/officeDocument/2006/relationships/notesMaster" Target="/ppt/notesMasters/notesMaster1.xml" Id="Rf61865cb167c44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e40163e9c6407b" /><Relationship Type="http://schemas.openxmlformats.org/officeDocument/2006/relationships/notesMaster" Target="/ppt/notesMasters/notesMaster1.xml" Id="R1e07c16e016048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f46b44a689445c" /><Relationship Type="http://schemas.openxmlformats.org/officeDocument/2006/relationships/notesMaster" Target="/ppt/notesMasters/notesMaster1.xml" Id="R6dc38b3059214f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4546332d5d4633" /><Relationship Type="http://schemas.openxmlformats.org/officeDocument/2006/relationships/notesMaster" Target="/ppt/notesMasters/notesMaster1.xml" Id="Rbceeeac57d9d48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0ab0c4c3854e20" /><Relationship Type="http://schemas.openxmlformats.org/officeDocument/2006/relationships/notesMaster" Target="/ppt/notesMasters/notesMaster1.xml" Id="R3fb50faf54d341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df4e2a0ee64a7f" /><Relationship Type="http://schemas.openxmlformats.org/officeDocument/2006/relationships/notesMaster" Target="/ppt/notesMasters/notesMaster1.xml" Id="Re16c9b22083f4d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b93bb118c44e74" /><Relationship Type="http://schemas.openxmlformats.org/officeDocument/2006/relationships/notesMaster" Target="/ppt/notesMasters/notesMaster1.xml" Id="Rf286f1c8b2f44e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973633601e446b" /><Relationship Type="http://schemas.openxmlformats.org/officeDocument/2006/relationships/notesMaster" Target="/ppt/notesMasters/notesMaster1.xml" Id="R2a5ceb5967bf41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08fec992394d6e" /><Relationship Type="http://schemas.openxmlformats.org/officeDocument/2006/relationships/notesMaster" Target="/ppt/notesMasters/notesMaster1.xml" Id="Rbb5f05b9f38943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415aae38f4e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b70771b80147e0" /><Relationship Type="http://schemas.openxmlformats.org/officeDocument/2006/relationships/slideLayout" Target="/ppt/slideLayouts/slideLayout1.xml" Id="Rcead1c8d317e42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ad1c8d317e42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52c40f4334c91" /><Relationship Type="http://schemas.openxmlformats.org/officeDocument/2006/relationships/notesSlide" Target="/ppt/notesSlides/notesSlide1.xml" Id="Reeb00c3afb4b45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e70ce91844991" /><Relationship Type="http://schemas.openxmlformats.org/officeDocument/2006/relationships/notesSlide" Target="/ppt/notesSlides/notesSlide2.xml" Id="R718053c08b574d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4a0280c7f424c" /><Relationship Type="http://schemas.openxmlformats.org/officeDocument/2006/relationships/notesSlide" Target="/ppt/notesSlides/notesSlide3.xml" Id="Rff354ed2e6a44a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27cbdec0643f2" /><Relationship Type="http://schemas.openxmlformats.org/officeDocument/2006/relationships/notesSlide" Target="/ppt/notesSlides/notesSlide4.xml" Id="R613091d03c234b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7ddf8d88144ac" /><Relationship Type="http://schemas.openxmlformats.org/officeDocument/2006/relationships/notesSlide" Target="/ppt/notesSlides/notesSlide5.xml" Id="R64829f79bade4f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804eccd5c4411" /><Relationship Type="http://schemas.openxmlformats.org/officeDocument/2006/relationships/notesSlide" Target="/ppt/notesSlides/notesSlide6.xml" Id="Ref3c20f9ab2743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3be55023342c9" /><Relationship Type="http://schemas.openxmlformats.org/officeDocument/2006/relationships/notesSlide" Target="/ppt/notesSlides/notesSlide7.xml" Id="R2076819c1bc84f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3b10817ad49a6" /><Relationship Type="http://schemas.openxmlformats.org/officeDocument/2006/relationships/notesSlide" Target="/ppt/notesSlides/notesSlide8.xml" Id="R416d0d70c58449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c92de405c44d3" /><Relationship Type="http://schemas.openxmlformats.org/officeDocument/2006/relationships/notesSlide" Target="/ppt/notesSlides/notesSlide9.xml" Id="Raa999eef7cd349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7f7392952467c" /><Relationship Type="http://schemas.openxmlformats.org/officeDocument/2006/relationships/notesSlide" Target="/ppt/notesSlides/notesSlide10.xml" Id="R5570e101f5fe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bb967e7094c2f" /><Relationship Type="http://schemas.openxmlformats.org/officeDocument/2006/relationships/notesSlide" Target="/ppt/notesSlides/notesSlide11.xml" Id="Rc4b00c4cc2eb42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5487f777e4215" /><Relationship Type="http://schemas.openxmlformats.org/officeDocument/2006/relationships/notesSlide" Target="/ppt/notesSlides/notesSlide12.xml" Id="R29d9381f0c0146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b39bb92c448c8" /><Relationship Type="http://schemas.openxmlformats.org/officeDocument/2006/relationships/notesSlide" Target="/ppt/notesSlides/notesSlide13.xml" Id="R0a3f9a19569941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d5ef7a0f24c99" /><Relationship Type="http://schemas.openxmlformats.org/officeDocument/2006/relationships/notesSlide" Target="/ppt/notesSlides/notesSlide14.xml" Id="R01f774a4f59440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47ec34d0b4638" /><Relationship Type="http://schemas.openxmlformats.org/officeDocument/2006/relationships/notesSlide" Target="/ppt/notesSlides/notesSlide15.xml" Id="R39da22caf02b4b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891b2947245b0" /><Relationship Type="http://schemas.openxmlformats.org/officeDocument/2006/relationships/notesSlide" Target="/ppt/notesSlides/notesSlide16.xml" Id="R7f4751ab14dd46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E4740-8CF1-4970-AD4E-2ED76452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8315F-4D36-4229-A61A-82E5CAAB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2026 iFLYTEK AI开发者大赛 / OCAS-skill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7BF8A-3BBE-42AC-8B9F-39F8DB4D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工业现场跨部门协同工作 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80AB5-FA6E-4C6E-B1EF-EA9804A5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把制造业现场记录转化为事件包、行动项、系统动作、审批、复盘和周报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98EFC-2D0C-4D82-91BC-A5326958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Skill 名称：industrial-workorder-collaboration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B0B05-1A9B-4CB8-A5CD-F1E038F0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76300"/>
            <a:ext cx="3238500" cy="4000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C171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ABDD3-AC28-4ACB-9BE5-230301BC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4BFDF-3486-4C23-B0CD-B45B5A3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C91E6-301F-45EE-9996-4EFDD92F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语音转写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D554A-9F42-4AC4-8CEE-7BBC2971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4E6BF-B925-4CC9-A8A1-098BAF74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955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巡检记录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FAA88-440E-4CD8-AA84-80D307AC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1FD5-1003-4A33-BE23-3D34BCDE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设备故障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79E90-DF28-409E-A2EA-9DF54F91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A3A14-F7F7-4722-A5B9-4EC7D019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527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质量异常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BC469-F0A9-4C43-8158-C0D3884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49920-D57B-4DF0-BD52-041B86C4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EHS隐患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FC0AA-5EB1-4BA2-BE65-E88E547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17EBF-17CB-4638-BCA1-1A7D67FC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00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班组交接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F8363-CB43-4A8A-8DD6-90B1D5F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9144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965A0-05B0-4F70-805D-0C5478AB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办公协同闭环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EB871-513E-4F2F-86C4-3F3F9596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专家榜满分证据版</a:t>
            </a:r>
          </a:p>
        </p:txBody>
      </p:sp>
    </p:spTree>
    <p:extLst>
      <p:ext uri="{BB962C8B-B14F-4D97-AF65-F5344CB8AC3E}">
        <p14:creationId xmlns:p14="http://schemas.microsoft.com/office/powerpoint/2010/main" val="1205628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095CB7-EE6B-4277-83AD-BDA9DAE7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FCD92-DF97-404F-8699-43EFD49D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赛题理解：办公协同的真实断点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32191-8CC8-4F19-8A91-024C6AF0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制造业的办公协同从现场事实进入后台流程开始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75835-B209-4B19-B6A7-A105A4A0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FEBDD-E419-4B65-A92C-7062D8B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CB619-8635-4CB3-9A8E-AC89AFF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5DFC4-8EB2-4465-A63C-3E6DE612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现场记录碎片化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6D3E8-6DA1-4E9B-A6A2-7871B637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705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语音、微信群、纸质点检、交接班记录分散，后续整理靠人工。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F8D4C-0E37-491F-AF2B-51024D6A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385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D2853-6686-4ED3-8756-3CE49820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3A950-E10E-4911-A15B-37776772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跨部门责任不清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CC50F-5BCB-452E-803F-DA620302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2705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生产部、质量、工程、安全、PMC 分别补材料，责任方和验收标准容易丢失。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A8238-BD18-4C4D-B3D6-74CF930E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14500"/>
            <a:ext cx="32385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2B91A-48A4-41A3-80C8-2EE1E942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9BE4B-F014-453E-A98A-79B05B55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风险被误写成结论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49FB4-2462-4C78-90D2-BEE20508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705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初步怀疑常被写成根因，质量放行和安全许可存在越权风险。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0B040-A4A3-485B-93BA-40D4EB39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本作品选择的不是通用会议纪要，而是“现场信息 -&gt; 工单/待办/审批/复盘/周报”的高频办公协同链路。</a:t>
            </a:r>
          </a:p>
        </p:txBody>
      </p:sp>
    </p:spTree>
    <p:extLst>
      <p:ext uri="{BB962C8B-B14F-4D97-AF65-F5344CB8AC3E}">
        <p14:creationId xmlns:p14="http://schemas.microsoft.com/office/powerpoint/2010/main" val="452282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E441D-A812-4865-AB02-4AA5C9FA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D4EA0-B490-4636-A5D7-295B7F3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作品概览：现场记录到办公协同资产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5BFEB-DF84-492F-9301-27D43AFD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输入多源现场事实，输出可执行的结构化协同材料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C313C-66E6-42BC-82AA-3666C564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21783-BDE1-48CC-81FB-2C032F9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143250" cy="3333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87DC5-F103-4E30-9A00-A91DB67D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AC151-C5C0-4F4E-A04A-90434FA7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43D10-262D-459B-B4FF-DA6C24BD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现场语音转写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462F9-E6F2-4F55-A0FD-8588FCD8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43E68-EBC7-4E3D-BC74-02077D2A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巡检/点检记录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96D42-45AB-415A-802D-A7E6C5E6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1FD41-40A3-48B9-A53C-55FEF906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设备故障描述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33011-097F-4379-9199-0B235AFD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D1E09-12F8-4B10-9EEC-4AB5FF2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质量异常说明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893B2-4877-4904-89E9-24152D6B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DCAF4-340C-4B9C-ADF2-D0D31236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EHS 隐患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DC1F7-90DB-4B00-9487-1311CD36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D4931-BC0C-4539-86E8-9DD23B54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SKU 换线记录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32ACE-5199-428C-9698-DBDE0B76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00375"/>
            <a:ext cx="10477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D2503-BE3A-43C9-BD7A-BE2D9E2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62125"/>
            <a:ext cx="5334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2BC4-00E8-47D7-B7B5-8077F0B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00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91D9A-F1EC-4852-B3B6-AA9E7B9F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C2614-973F-4475-9F1E-58253E79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76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工单草案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ED2CF-F280-4E09-A217-EC2A3D4E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7175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39D0B-DE77-4280-B055-468438AE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76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跨部门待办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A4454-321B-453E-A344-23625523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11A5F-4488-4977-8DDC-509BDFD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4327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复盘纪要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5FA918-6238-452C-BA9B-466F3489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3850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6EA05-9795-4AFC-BC3B-D3A7D1EF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4327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审批/整改说明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753CD9-8ACC-4D1F-86BE-031E6D65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0525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86614-0BA7-433F-8EEB-067D374A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00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管理周报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D346E2-AB86-4AE4-AFD2-0809357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05250"/>
            <a:ext cx="20955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844151-0C07-4868-8AE8-F04DB75E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100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可复制同步消息</a:t>
            </a:r>
          </a:p>
        </p:txBody>
      </p:sp>
    </p:spTree>
    <p:extLst>
      <p:ext uri="{BB962C8B-B14F-4D97-AF65-F5344CB8AC3E}">
        <p14:creationId xmlns:p14="http://schemas.microsoft.com/office/powerpoint/2010/main" val="1877532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3BF816-9028-419F-9311-BED22FA2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E05E9-1F02-4124-8783-4591B66F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场景路由：生产部牵头跨部门协同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26980-83D2-4143-958D-8FEF4486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生产部作为事件 Owner，拉通质量、工程、EHS、PMC 和维修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8B6FF-11BE-4BA6-B991-E5344029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D3DF9-1BFF-45F4-BF62-F974E14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9F296-9601-4FE2-8E70-2991415D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AEBD9-9B3A-44B7-9032-3E985268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169545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235E6-8C5B-4CC6-A4DC-C327F265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177165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93088-C868-44F5-89C7-5F40074D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169545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3CBCA-329B-432E-B12C-32711B47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177165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关键部门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36281-C28D-4D94-AA4E-6B7932F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169545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6C5CF-274A-4F75-8A53-F0E8999C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177165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必须关注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AD322-C40A-41E1-AF95-59DA1B68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2DB21-A917-4DB7-B1B4-130EEA46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设备维修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56086-241F-46E5-8088-38978C63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217170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DA6E7-C9AE-4C9C-8A24-1FD71AE6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224790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生产部工单 + 维修待办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2169C-5E69-486C-8A54-E2F051D9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217170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2964B-DB6D-4DF5-AB8B-13D76881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24790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维修 / 工程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43990-5A57-470A-9534-2FAAD7A7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217170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41592-DCA5-497C-9EAF-9D817E6C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224790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停机影响、试运行标准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69AA2-AE90-461E-AC25-3A5DB5CC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FD612-A4BE-43B3-8CE8-2B9B437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质量异常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8B663-4ECC-49EF-B692-F6DE33C2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264795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DB845-9117-4AC8-81CD-51F803F1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272415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隔离 / 复检待办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9FE70F-473F-4088-A595-7049EAF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264795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69AAD-9BC3-4F97-8F5E-127552D3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272415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质量 / 仓库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4E606-A1C7-4288-9922-1707F4C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264795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FCDA1-9FC6-43EA-921C-81FE1413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272415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批次、放行权限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51E70-CDCD-4903-B72E-D8E281AC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F448B4-F435-4689-849E-113D530F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EHS安全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086916-BC8A-4CD8-9050-BD0B79B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312420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0CC9D0-7E00-4BDA-A07D-867C361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320040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整改说明 + 风险提示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71BA56-3D1E-41BB-BD58-7F8024D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312420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7905F-FDB4-45B0-BDCA-26E4535E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20040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EHS / 班组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3467E6-AF8A-4CC3-B958-D2D14713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312420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1BD2F2-F5F9-4E5A-9AB8-C7C78E4C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320040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先隔离风险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4BA35-AEC0-4261-AB7B-1B2CCC2F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8F7319-8226-4A6E-907C-81412D68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PMC排产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7395FD-0BE4-4268-AFBC-3EB8485A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360045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3BBD8A-D796-49F3-94B4-3B0C110B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367665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交期影响 + 排产协同包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E1C3DC-BEFC-4AB2-B1D2-E92A4E7A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360045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15C4E8-E6C0-42A3-8046-64AAA18E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67665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PMC / 仓库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6A2198-99AE-44A2-9C5D-C545EA1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360045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E72040-4FB2-4781-AB39-0F3D24C5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367665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产能、物料、客户承诺边界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13DE66-E5F1-4014-B35A-E940BC37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DB9CF9-0E6C-4DF6-AB29-5166AC4D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工艺变更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8E9C27-0AB1-4CD5-AB55-705B256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407670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500E2C-A247-4778-97AF-FD19B3B5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415290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临时变更事实包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EDB79B-1264-424E-97F6-7E1D1623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407670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80E676-3749-4BFB-8534-D40D0DE3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15290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 / 工程 / 质量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68D824-EFA3-4F96-A333-D809C05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407670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8A636-0705-44F8-84DB-AE438D4C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415290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版本、首件确认、试产验证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51CF78-31D1-46C1-BC9E-4B1D7534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975104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43F178-EBB0-415B-972B-90D89554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78460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会议交接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A8A80A-D885-470D-B42F-0CB580E9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4552950"/>
            <a:ext cx="2962656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C1293C-2059-4BEB-97E6-8BA9E2F2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954" y="4629150"/>
            <a:ext cx="277215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纪要 / 周报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812ADE-2D7B-49C7-898D-CF459454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360" y="4552950"/>
            <a:ext cx="2633472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144783-F2A2-4884-B397-FD3EDD31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4629150"/>
            <a:ext cx="24429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生产牵头多部门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A192E6-4D29-48A9-A9B1-E97AADF1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832" y="4552950"/>
            <a:ext cx="3401568" cy="476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5A277F-198E-499B-AE30-FE53F236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82" y="4629150"/>
            <a:ext cx="321106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未关闭事项</a:t>
            </a:r>
          </a:p>
        </p:txBody>
      </p:sp>
    </p:spTree>
    <p:extLst>
      <p:ext uri="{BB962C8B-B14F-4D97-AF65-F5344CB8AC3E}">
        <p14:creationId xmlns:p14="http://schemas.microsoft.com/office/powerpoint/2010/main" val="1760607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305E2-E069-4746-8FEE-BC6E8D70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54009-8010-4A5E-87FB-C027E64C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核心机制：事实分层 + 质量门禁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B7D6F-0A2B-46CF-B3C8-02B6A060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降低误判、编造和越权风险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698E4-C934-4F17-ABA9-77FFF69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C49FE-4C52-4CB2-94AE-D90463F8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47B98-1C9F-4C9F-857E-891B17BA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已确认事实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D6F6D-8B52-4F76-809F-E74BA2EA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用户明确给出的时间、设备、地点、现象、数值、批次、动作。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6AB5D-97F6-4119-A1B0-E147A9C5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D2F24-E2E6-494C-BB5D-8BF845B3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合理推断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75BB6-FFB0-4712-A399-15B4D3FD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可从上下文推断但必须标注为可能、初步、需确认。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4D60F-77CF-4552-8001-BEA937BF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42045-F61A-4983-B9F6-A5623D0C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待确认信息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5C942-9A4B-4F0A-B3D4-7D0106AC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261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影响派工、审批、质量放行、安全判断、交付承诺的信息。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DA231-E4C8-4D7D-B321-07DACEE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15A54-51E5-4334-8120-E7247BBB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输出质量门禁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AC90E-B2FA-4984-B887-2F24D58A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FA781-FD75-43F2-8C7B-E791DD6B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481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每个行动项必须有责任方、动作、输入依据、截止时间和验收标准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524F9-69D9-407A-BAB2-61AAE0BA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48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19242-680C-4E13-8F67-53113E76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719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安全、质量、生产影响和数据合规必须显式提示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A1CE0-229C-4A0F-B1FE-26A7AB9A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47643-7BC8-4825-AB5A-6FFB1BA3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6958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不编造根因、责任人、审批结论或已完成状态</a:t>
            </a:r>
          </a:p>
        </p:txBody>
      </p:sp>
    </p:spTree>
    <p:extLst>
      <p:ext uri="{BB962C8B-B14F-4D97-AF65-F5344CB8AC3E}">
        <p14:creationId xmlns:p14="http://schemas.microsoft.com/office/powerpoint/2010/main" val="430784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2EB688-6213-4D49-B69B-009368B1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C7F3-98D9-4A90-8550-9B864633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Demo 案例：一段现场记录变成协同闭环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C1404-3438-47E5-B6B6-26F24655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贴标机漏贴停线 + 质量复检 + 生产恢复窗口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DB342-E98D-4ED3-9C23-73CF1CFD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ED7AD-EEFF-45E6-8925-EE0D46BB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667125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C3DC2-1D55-4867-880E-7871062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D50C3-FDB7-442E-9E1B-329C2D3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三号包装线贴标机 14:20 开始频繁漏贴，更换标签卷后仍异常；停线 18 分钟，质检发现 32 箱需要复检。维修怀疑传感器位置偏移但未确认，生产希望 15:30 前恢复。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C1409-5324-4FF4-9DD8-E01CDCB6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关键：传感器偏移只能作为合理推断，32 箱未复检前不能建议放行。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98FE3-99E0-4066-B477-03F7302C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34000" cy="3667125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C59EE-F2C9-4F1B-8C35-8D875E5D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B20D8-26CB-4C49-9940-245B2EBC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1047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5B321-5CE7-441E-9669-8F73D46B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48DCF-47E3-4810-B3A5-854CFD80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905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CD423-7A89-4801-9CBA-38B4B685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5217C-ABB2-4B27-9CFA-DFC21F0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3190-55C0-4952-AB0E-E43301B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69103-55F3-4EF2-BA54-89E741C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047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02779-B4DD-4F28-99D0-EF8CD7CD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维修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0D0EF-A9AC-4385-A512-79FFCE05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95600"/>
            <a:ext cx="1905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BF6B2-8698-4570-BDFE-845FC460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71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校准贴标传感器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A2EE0-F136-49B8-B707-8BFDF168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9560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D6BDE-35DF-4553-B097-78246346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71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试运行无漏贴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F4260C-4319-46A8-94B2-E9E2AE3E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1047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3B8C6-E711-4106-8484-7065444F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99B95A-FC47-4FB7-AF0B-B9D6A67D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9950"/>
            <a:ext cx="1905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09274E-E7E9-4E23-BB9F-BB9733CC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隔离并复检32箱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EB301B-1FAC-4C4E-A812-A737487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99BDAA-C7B0-47CD-8586-EEACF844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61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形成放行/返工记录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D5ABD-CBF6-49DF-8692-64CCF4FD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1047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F5F7B4-9824-4463-9E66-9AE355C8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A42C1-280A-436A-8869-6A6D091F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19050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67618C-0726-4BA1-9962-102C7A98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确认恢复窗口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539E4E-75AA-4DBC-95A1-5BEE786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80975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F8F17B-AEC1-41C1-8971-96A8F49D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00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明确产量影响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437B21-0A07-45EE-9D83-03E38C8E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38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另输出：工单草案、已确认事实、合理推断、风险提示、待确认信息、可复制同步消息。</a:t>
            </a:r>
          </a:p>
        </p:txBody>
      </p:sp>
    </p:spTree>
    <p:extLst>
      <p:ext uri="{BB962C8B-B14F-4D97-AF65-F5344CB8AC3E}">
        <p14:creationId xmlns:p14="http://schemas.microsoft.com/office/powerpoint/2010/main" val="1607342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50666-64F4-4904-83FB-63BFDDBA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97A95-3D11-4CC3-8756-11BB68BD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鲁棒性：39 个测试用例覆盖关键边界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3E60C-EB30-41EA-99BC-059CB718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以测试矩阵证明稳定性，而不是只展示一个理想样例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B8CA1-71DD-4FA5-8C70-78FD2194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C0B37-FD71-4556-B65C-5A60EC85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000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96246-98EA-4899-859E-3E879D19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28476-1127-48FD-A902-3B61197E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测试用例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CB990-8B5A-4B11-BFCE-23D8529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62125"/>
            <a:ext cx="2000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29725-59D5-4EC1-BEF5-6A58F0D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9716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AC750-F0FA-43A8-AB12-680849FC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76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场景类型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1EC09-8C4D-434E-B28E-EA7CFE8C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62125"/>
            <a:ext cx="2381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5582A-8F3D-46FD-8F8A-6090B369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716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95BC4-984D-43A8-ACB2-179013D2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允许的危险操作输出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6A8C4-3923-4762-AD01-7823FC2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62125"/>
            <a:ext cx="276225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A3FB4-D75A-4C24-932E-65664A33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71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AFC1D-B91F-4B0E-99F6-0C46665C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476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必拍实测截图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6B4C3-65B5-4218-A2F2-EDC11EC0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D21D8-D4F1-48B8-96B6-F9B25F93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覆盖类型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36203-9534-4A6F-9D17-7605870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1432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5DDA3-04AD-4F4D-B06C-4A27CC95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32194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用例数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0D44F-71B4-438A-9CD4-D7F6AA1F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55555-C3E8-44E9-8483-D495433C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代表场景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88447-F28D-4D83-89AE-2C80FC89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EB292-3954-4F6F-9FA3-95F8BC00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设备维修/备件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EEEB3-D63C-44B6-8F62-7E0470E6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4861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3258D-B783-4CE5-83B1-74FF7F77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35623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F3365-EB8D-4DD5-8DA0-BDE48A6D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1A307-F10B-459C-A0DD-BC80BD3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贴标机、注塑机、空压机、预测维护、备件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C793D-1067-4601-B151-1C099520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AC09A5-E1F5-4C68-85E9-3F044F94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质量异常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E2CEEB-5E9A-4789-95DE-9B59B91F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8290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45960-6A23-4185-A5A9-C2BE3860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39052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FA936D-9394-424D-825F-0C8F6AB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290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EE793D-B45D-4D0B-81B6-7B1194BC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052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批次划伤、首件尺寸、客诉、混料风险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10516B-343E-4342-B383-A0CF46E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C34D2-BFEB-401C-8B39-416C3378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EHS安全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955E51-BD78-4F99-A28E-1532B2F3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41719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D2E60-9BBF-4B62-84FC-59E2084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2481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B24A5F-4FB0-4696-B1A3-395F71C3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10D973-999D-4660-9BCF-D661490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481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消防通道、带电检修、化学品泄漏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13C906-8DF4-406D-AB94-DBB96149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D6A7F7-A33A-4B5D-82B4-AB36CB4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换线会议交接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03E823-E408-4399-82B1-51F2FB9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45148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617C98-2F1C-4950-BF8B-3729F28D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5910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AF4D7D-AE94-4060-AA70-36818B06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148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A57116-4F70-46C7-84CD-B7D521E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910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参数版本、复盘、周会、交接、周报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8B783B-11EA-450E-8FFE-4E063361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32CE5E-0DB9-441C-9805-EEAA378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企业动作边界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C6E829-7B33-4A70-9AFD-C0FE04ED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48577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B9E9D5-3407-4347-A0FF-32CE1031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9339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29FFBF-6F4D-4C69-A8A7-59B75D5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577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11E2FB-ED41-4C9A-8803-F35D866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339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外部同步、知识沉淀、隐私治理、状态更新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71478E-8EEB-4E67-AA20-C7B798C8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FC175E-224B-4BAB-B333-4FA3CFD8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高级鲁棒性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A37513-1B06-485C-B0C9-270C533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52006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912AB9-8DB4-46B1-836D-5407EA5D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52768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6076D7-1B4F-48B3-82B7-322D54B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006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4F3D28-8279-438E-99FA-0D337748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768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诊断、编排、信号、降级、自评、对抗、噪声、冲突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CFA1B1-E25B-43E1-9064-D1DF4BC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0FDDB7-7057-424D-9F2B-3BC953C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现场执行/工单质量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CBCC64-10BD-4205-8B5F-45EADD62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55435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ED4C024-3DA2-4AFF-B43D-76F04337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56197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00B82C-B567-40D3-B294-EDF9CD5C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435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A23D73-323A-45B6-987E-7AB09695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197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维修派工执行包、关闭工单数据质量门禁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5D096E-EE8C-40F4-9A95-2E18CDB3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242316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851133-2A15-4A1C-ADCB-946A549B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22326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生产部跨部门协同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425DEF1-B4B3-40F4-ACB4-C9945584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5886450"/>
            <a:ext cx="161544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6EB834-837B-49E1-BF42-1EF26F82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5962650"/>
            <a:ext cx="1424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DFCE96-51BE-4223-ADFF-09055449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86450"/>
            <a:ext cx="6057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831510-AD8E-41DD-8A7B-7C213DB1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962650"/>
            <a:ext cx="586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PMC交期、工程变更、质量/安全/PMC日清闭环</a:t>
            </a:r>
          </a:p>
        </p:txBody>
      </p:sp>
    </p:spTree>
    <p:extLst>
      <p:ext uri="{BB962C8B-B14F-4D97-AF65-F5344CB8AC3E}">
        <p14:creationId xmlns:p14="http://schemas.microsoft.com/office/powerpoint/2010/main" val="869004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F93F7-E9E7-4A5B-B980-FD3737E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B7307-EDC7-4EAA-BA98-90006C53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评分证据矩阵：用例直接对应官方分项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CBD5F-677D-4CF9-A532-C15F0161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39 个用例映射到 6 个专家评分项，避免只靠主观描述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CB8DE-10DC-4E98-AA07-CE1576F2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13C58-66B6-4656-9B48-F0C9FA67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70363-9840-40E7-9D7A-70791B9E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官方分项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94CC9-F260-4816-B635-507633DD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1638300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BD2EB-C68A-44C4-B4CC-9DC8623A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1714500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满分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45D4F-684E-4E89-BEF8-356C3F2C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1638300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69475-0885-431D-A34A-59DC773D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1714500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包内证据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A11B3-2B86-4F5E-821B-CEDED68D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638300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9FF1A-25AB-4F94-83E3-47A6A9A4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1714500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提交后证据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FF84E-6562-4B65-9183-87353360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9D16B-1284-4896-A3B7-B1652AE2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稳定性/鲁棒性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D6A5C-45C7-4833-BD2A-8EB8C94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2162175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69A9B-DB2B-4F2B-A02E-0E5030B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2238375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117B8-368C-4AED-93A0-FF1B51B4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2162175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95A96-0D28-4DE1-AA02-1EF37255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2238375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39用例、自检脚本、评分脚本、异常边界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3825EB-2F4C-4643-A631-77C0224E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2162175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82780-97F7-4CA3-8F2C-C684E810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238375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T01/T06/T11/T28/T33/T36/T39截图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28515-6DA8-4764-AF81-E15B2FD9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5B38E-F8DB-4626-B2DE-AE1C6738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创新/应用价值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61C2B-481B-4AF0-A3A0-9275CF7E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2686050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9333E-E9FB-480C-9AC3-EBED6A42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2762250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66C2D-40F1-4AED-8AFE-95430C10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2686050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B23FD-1E68-409F-B701-069843A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2762250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现场到工单/审批/周报的垂直闭环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7962A-FBAF-4D57-A77F-B08B39F2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2686050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F5EB53-EC02-475B-A13A-2F4069EB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2762250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脱敏试用反馈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3094F-9980-417A-8E26-D181E09D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7C754C-9AF2-4CDB-9827-15A4D5B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结果质量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F152F9-61B7-4BE1-9B22-E7826D4D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3209925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0827DC-94C0-4126-A9EA-DAA049C9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3286125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4EBF1E-A162-4788-9FE6-22F875EE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3209925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00E9EE-13B7-4A60-9438-B9D696B9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3286125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事实分层、证据索引、候选诊断、验收标准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D87387-9484-49DB-8506-E2D9B13B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209925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F15ECA-400F-4CB3-BFC6-F838A317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286125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T21/T25/T34/T35/T37截图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C999F4-44B9-4F1C-A320-75E29068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2A05A4-92AA-404C-9FD7-6986C65F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技术设计/编排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6BD78A-B99D-4DEF-8A1C-B1209249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3733800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300095-C98D-4FAF-BB83-1166F124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3810000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92B247-2E2C-4341-8856-FB5C56FD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3733800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CEC751-D653-445A-B12E-A4D92FED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3810000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生产部牵头路由、Schema、动作卡、幂等和回执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11B3AD-CE5E-47BB-BEA3-272A1D58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733800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05FFF1-C242-49FF-9DBF-492A80B5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3810000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多系统动作卡实测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24DABF-B709-489C-A53D-E2E5719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624C88-A485-480C-BF81-C6547A2C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工程文档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2FA752-E874-4610-ACE9-D4CE59B2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4257675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9BBF4E-F05D-49DF-B42C-B400FDA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4333875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71EE2C-6D2F-4322-B8B0-0B0AD2F2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4257675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78BA09-FD4A-4DEF-83D5-0F26D42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4333875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README、templates、tests、rubric矩阵、日志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90A679-2912-48E4-83D4-4A2637EC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4257675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D6BE84-ED3F-4CC6-908F-ABA1B40E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4333875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上传前校验截图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798B92-41C8-4D1D-8074-D7DDCB46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14016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B5BDED-6743-4D43-973B-4320988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2223516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安全合规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A8308F-3D81-474C-ACCA-A9F6B484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4781550"/>
            <a:ext cx="109728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BA5CB9-C727-4637-92C6-BFAC168A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866" y="4857750"/>
            <a:ext cx="9067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5B1A2D-91D0-497D-8122-B03A89C4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896" y="4781550"/>
            <a:ext cx="4169664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82AF41-132A-4C05-8821-55C1700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146" y="4857750"/>
            <a:ext cx="397916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脱敏、拒绝越权、提示注入防护、刷量拒绝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91FDD7-71F0-4F25-A490-4503DB9E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4781550"/>
            <a:ext cx="3291840" cy="5238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F7A2F4-5774-4A2D-837C-52BD9D2E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810" y="4857750"/>
            <a:ext cx="310134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T11/T30/T31截图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886983-13E9-4AD3-BE83-2919FC24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5D8950-4DA9-491D-A404-73EBD36E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新增文件：tests/rubric_evidence_matrix.csv；自检脚本已强制检查 39 个用例与评分矩阵完全覆盖。</a:t>
            </a:r>
          </a:p>
        </p:txBody>
      </p:sp>
    </p:spTree>
    <p:extLst>
      <p:ext uri="{BB962C8B-B14F-4D97-AF65-F5344CB8AC3E}">
        <p14:creationId xmlns:p14="http://schemas.microsoft.com/office/powerpoint/2010/main" val="1283635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83498-C187-49D0-A86E-1084463A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0B254-075A-48C4-A7C3-0459388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能力升级：从文本整理到执行闭环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0F1B4-F02A-42CB-A095-BE2D2EF0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核心是边界、证据、动作、人审和可回放测试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47EBD-2F70-4B1E-A93C-1FA1C1C1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532DC-96F6-40A2-B0E7-65C8BB71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E945B-C888-4468-9506-C806841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能力包结构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AA30D-3809-4E71-93E4-B1767F0E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主指令保持精炼，长模板、测试、脚本和证据材料按需加载。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21E98-9F01-4BA3-A9AA-7846DFBE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9545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FBFAE-2792-4514-AA84-031BAA6D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05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边界与权限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028DF-2047-411F-9C08-7B744F99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86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只引用输入和授权数据，质量、安全、客户承诺必须进入人审。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D037B-5E64-4B9F-A418-22697B11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D6263-1EAF-4847-96FD-3152D400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动作执行门禁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7DB11-D5AC-429E-BEA4-A75FE784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外部动作区分字段、权限、准备度、幂等键、回执和失败回退。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64B4A-A5B4-4817-8995-F7675C5D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1945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FF49C-996F-459F-9859-D0C5DFA3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维修知识闭环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EE2B1-063C-4633-BAFF-F162772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相似记录、候选诊断、验证动作和关闭证据沉淀为候选知识。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59DDA-6BFD-441F-A014-0AA8ED04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已落地：动作准备度门禁、闭环学习、相似问题对比、外部系统动作卡、39 项测试矩阵。</a:t>
            </a:r>
          </a:p>
        </p:txBody>
      </p:sp>
    </p:spTree>
    <p:extLst>
      <p:ext uri="{BB962C8B-B14F-4D97-AF65-F5344CB8AC3E}">
        <p14:creationId xmlns:p14="http://schemas.microsoft.com/office/powerpoint/2010/main" val="1735339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A3DDF3-E782-4421-8B07-14F5A06B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D3DBE-56F6-499D-B47C-108652FD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动作准备度门禁：不把草稿伪装成已执行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44BA5-6973-40CF-84CE-99EB2DF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对接 CMMS/QMS/EHS/OA 前先判断是否可提交、需确认或需授权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8B268-A397-40EB-99A8-8E8FCD25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55ED8-88F9-4FCF-9801-6BDEC49B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6B8D6-3EF9-469E-90CE-3DB5CC44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4CD47-9B7C-40C7-9099-12B0FC5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171450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FC8FF-0E19-412A-8972-6EE101C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179070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3DE63-63B4-4F61-B445-2768B115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171450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7B1EC-60AB-4450-9327-92CD457A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179070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输出姿态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80D5B-F2F9-4019-A828-CFC92CD4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B1070-73B8-40B7-97CF-9DA65806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ready_to_submit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73158-AF10-4105-9063-13C79937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234315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EE732-F4B6-46DE-A1C9-E0C32650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241935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字段完整且不涉及高风险授权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8877F-3710-431F-884B-42644885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234315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5079C-54AC-4CC7-8A01-B6F3C774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241935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可生成提交材料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4E1A3-9088-4BC6-B5F5-BA8DEFC2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85CF2-272F-48E1-9AA3-4BFBDFF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needs_confirmation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1647A-7CAA-4746-9991-414DA3A4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297180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F225C-5211-463C-8E74-A5846000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304800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目标、接收人、时间或附件仍需确认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B9EBC-9B88-4F53-A8E5-4D65C23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297180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52051-2ED3-4528-9922-F6FD892B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304800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列出确认项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049CE-842B-4C00-BE46-7A797E28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A0278-BB98-407D-BE16-D9AFCECF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requires_authorization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E8005-9510-459C-BFB7-1CE9974E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360045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1BC5B-8F1E-45CE-A0A4-0A780F1E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367665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质量放行、安全许可、客户承诺、正式发布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418C4-3F92-4F48-A05B-62001337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360045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3A939-1AA9-4434-A6A4-A1156839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367665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生成审批事实包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D9C69-484E-424F-A1A0-A096A53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633472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7B80D6-305D-4B7C-AF95-67F3C344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2442972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blocked_missing_fields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9B39D2-17BC-4112-80C4-463DB363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072" y="4229100"/>
            <a:ext cx="471830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C368B4-9E4B-4837-B332-A28F088E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322" y="4305300"/>
            <a:ext cx="452780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缺少关键字段，执行会误导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F97C09-B060-4900-9E95-03B00F39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1376" y="4229100"/>
            <a:ext cx="3621024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265CA2-3E45-4AF0-9B00-DA836564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26" y="4305300"/>
            <a:ext cx="3430524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阻止声称已同步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737C77-3980-4815-AA24-CF540AC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17B32E-1E1D-489F-AE7F-1B07CB8D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专家价值：这一页直接回应“支持多插件/多工具协同，易用性”和“无越权行为、数据处理合规”。</a:t>
            </a:r>
          </a:p>
        </p:txBody>
      </p:sp>
    </p:spTree>
    <p:extLst>
      <p:ext uri="{BB962C8B-B14F-4D97-AF65-F5344CB8AC3E}">
        <p14:creationId xmlns:p14="http://schemas.microsoft.com/office/powerpoint/2010/main" val="917299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CC7C9-8D38-47E3-AEAF-2393BB54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1130E-A04E-4AA7-A920-25A06B8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闭环学习：从已关闭工单沉淀候选知识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746A9-494F-4A99-B059-A26660A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相似记录、故障模式和关闭证据进入候选知识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62AE8-2EAB-42EE-A530-A37D5114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BBEE2-085A-4ACE-8A3E-5F4DFCFD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857500" cy="3143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75612-68D1-4E1D-BF54-BA65E35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FC5D9-0144-4EC2-8836-793ECF99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215D4-E54A-466D-BECB-ABFB2A57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已关闭工单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0C185-A725-44D1-B612-2A4715FB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A78A2-C295-4B4F-8AB1-B416A15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复盘结论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9DDA1-4E76-4E50-895A-7373F3AB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F083A-DA9B-40C2-96F7-2C74F4F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SOP 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E1401-C0E2-44B5-B461-3AB0866D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B3FE3-211C-46C8-BD1A-D92515C9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复检/复测证据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F3676-0FA9-4285-A687-1D92DAF0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181D7-CA02-4365-B78B-E54CD44B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EHS 整改闭环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FF01B-2639-43BA-AF75-C386A301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1430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414AF-FFB6-4B71-9A2F-32ADCDA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95450"/>
            <a:ext cx="59055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368F73-FC4F-4756-BB9B-EAF91E4C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候选知识条目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E890B-CDC1-4002-8E84-23BE0A1C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4AE62-E7E0-421F-BE32-B47F8E39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527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8FD69-76E7-4117-9DED-58B21A8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24765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12DEF-8AF8-462E-B373-95EE51FB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25527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ACC65-4E61-4F35-82EE-FE1A184C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337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B49D9-BC82-460A-AB9B-1E8CF76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可复用经验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2ED26-7055-4C61-ADC6-D50B477A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29337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A28DB-4F6F-4F65-8AAD-81EF22F3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30099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必须基于已验证证据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AD0F8-5616-420F-BFEC-8558D08F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04526C-1A0E-4625-BE7F-E3919CF3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适用/不适用范围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B34D1-83DE-4463-B549-B1008B17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3909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C192E-5FA7-4BE8-B80B-39ABA0F0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34671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防止把历史问题错误套用到新问题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BFCC92-1F8C-42F8-A48A-1B103D6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E3E39B-065A-4B35-98FA-6B16BD64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243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待复核证据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D8D86-0EA0-4E2F-9603-3D640FE1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38481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71AB1C-C869-40CC-9C79-29D386CE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39243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未确认根因和措施不能写成 SOP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825FEE-16A8-470B-B6BB-B27BFC5B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169164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86F7E6-DAC8-4209-901B-A7FE167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1501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触发关键词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115BB8-B7D4-4108-8677-CE029454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4305300"/>
            <a:ext cx="3594735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92CC8E-1664-4EDF-A566-D9A31129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4381500"/>
            <a:ext cx="340423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方便后续相似工单检索</a:t>
            </a:r>
          </a:p>
        </p:txBody>
      </p:sp>
    </p:spTree>
    <p:extLst>
      <p:ext uri="{BB962C8B-B14F-4D97-AF65-F5344CB8AC3E}">
        <p14:creationId xmlns:p14="http://schemas.microsoft.com/office/powerpoint/2010/main" val="11523671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8CAEE-4F4C-49B1-8761-9A6E0507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08599-E7E8-4AA0-A9F4-3B31619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工程规范：可重复校验的 Skill 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5DB55-6D64-419E-B979-B57A90CC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用包体自检和结构化资源支撑工程完整性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35D7F-FBC5-4457-B841-D8AA330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3E9CB-C2B6-472B-B408-74FD677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1EE10-1567-4C99-9BC0-48162255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SKILL.md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9A2D5-2744-432E-B94A-D39C4B38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9545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10144-5913-4F66-B94B-EDDF4143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383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73BF-B95E-46F1-BB2A-583C1936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980A2-20F5-450E-B1F8-DEA0BD18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examples/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28A75-3EE6-4ED7-9C75-F82D03B8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650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D874C-77A9-4CE2-8176-C56CA364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193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templates/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B5E7A-3FFA-4075-BB80-BD82EC98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C5A0F-46E8-44B2-BF3E-69374F2C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references/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CC854-4FF3-4786-9AE4-7D428AEC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286C7-B1C6-483B-BA0C-5F93793F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tests/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7F579-64E1-4D98-9F9B-6815D5F2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6DD26-5E45-4C8A-B8C1-69F6B02C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scripts/validate_package.py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E9A3E-236E-4858-BAF0-BCEDB964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38600"/>
            <a:ext cx="44291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642FD-D083-4DF0-9830-D26E97A5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814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rubric_evidence_matrix.csv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808AC-560A-4484-A02D-DBF26AA8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自检脚本覆盖：frontmatter、JSON、39 个测试用例、敏感信息、文件扩展名、包体大小、ZIP 结构。</a:t>
            </a:r>
          </a:p>
        </p:txBody>
      </p:sp>
    </p:spTree>
    <p:extLst>
      <p:ext uri="{BB962C8B-B14F-4D97-AF65-F5344CB8AC3E}">
        <p14:creationId xmlns:p14="http://schemas.microsoft.com/office/powerpoint/2010/main" val="2138502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28410A-1B0B-4236-BAA2-36C21B8D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2959F-1C5B-43EC-9EBB-714C89E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安全合规：边界清楚，拒绝越权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EA441-D9E0-4E58-89C7-FBC1544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高风险场景保守处理，避免把 AI 输出当授权结论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F4722-51BE-4796-B68C-42391C67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B0FCF-6AFF-4592-98B6-1AF45715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29190-B775-4379-A247-470478E5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不替代授权判断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B25E8-7C4B-4F22-B14E-52CF5780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不直接批准质量放行、安全许可或审批结论。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4AD23-5ECC-44DD-9F0D-A07DC43F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6212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08B4A-0FB2-421F-8C24-984B1451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90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不输出危险步骤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2BDA3-AEE5-4A0A-B536-C84BCDCA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812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拒绝带电检修、绕过联锁、解除防护等危险操作建议。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E8F00-F7A2-46D9-A034-9FF4C97B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49028-70B5-4047-91CF-752166C9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不编造事实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8B9AC-A45C-4C5C-A719-D1F30DB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不编造根因、责任人、客户名、批次号和完成状态。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7513A-1D7D-4B38-ADDF-176FE32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8137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1E674-75F1-4C47-A1E6-73356A79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099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隐私与数据脱敏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27107-A7E5-4224-B00F-AA9C3C1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客户、人员、手机号、账号、密钥等敏感信息不完整复述。</a:t>
            </a:r>
          </a:p>
        </p:txBody>
      </p:sp>
    </p:spTree>
    <p:extLst>
      <p:ext uri="{BB962C8B-B14F-4D97-AF65-F5344CB8AC3E}">
        <p14:creationId xmlns:p14="http://schemas.microsoft.com/office/powerpoint/2010/main" val="404723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A1759-41B5-4B9E-97B4-81DD9E0E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81AEF-072F-4DE5-B735-E82346BF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落地价值：连接聊天通知与业务系统留痕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31E7-66A6-40D7-A03B-8EFB575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生产部用统一事件包拉通 MES、CMMS、QMS、EHS、SAP/ERP、OA 和 PMC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E4725-347B-4BAC-A7CA-FAA888CB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EECB4-3FE4-4D1A-B9F4-04E7250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62050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B1641-E52C-447E-A27A-9E7E63E5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3335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CMMS 维修工单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B6527-2D82-4173-8279-A23D261F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545" y="1761859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D2390-0444-4243-8173-6B047607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945" y="1933309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MES 生产影响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82AB5-B290-4C38-BBD5-D2F8F263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209925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095BD-B1D9-4501-A20A-858D9336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813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QMS 质量复检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C3A33-FAF3-43D6-B4E5-CAF1F1E8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545" y="4657991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18880-CC1F-47C4-9AE1-844D4BA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945" y="4829441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EHS 作业许可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DAA8A-B29E-4316-B36F-36B4B00D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57800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7A73F-9300-45F8-B236-7144B673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292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SAP/ERP 物料订单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ACC23-0695-462C-BD7D-A5943F17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855" y="4657991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12595-72B1-4E87-AD07-F197B502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255" y="4829441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OA 审批说明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1E3E5-32F2-4C6E-BD0F-8EFFE86A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09925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FF3E9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07FDC-33F6-479C-A0FE-D4327935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3813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PMC 排产交期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BB01F-CA88-4AA5-B648-859027DE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855" y="1761859"/>
            <a:ext cx="2133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B8861-9620-4C3D-A8A8-70D59179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255" y="1933309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企微/飞书/钉钉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E38BE-543B-485E-910A-3CA3C601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C171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AE99A-172C-48A4-AA60-F1BECF29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146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统一事件包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EB65B-0A59-4E01-A21C-729D1E82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DFF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DFF3E9"/>
                </a:solidFill>
                <a:latin typeface="Microsoft YaHei"/>
                <a:ea typeface="Microsoft YaHei"/>
                <a:cs typeface="Microsoft YaHei"/>
              </a:rPr>
              <a:t>通知、留痕、回执</a:t>
            </a:r>
          </a:p>
        </p:txBody>
      </p:sp>
    </p:spTree>
    <p:extLst>
      <p:ext uri="{BB962C8B-B14F-4D97-AF65-F5344CB8AC3E}">
        <p14:creationId xmlns:p14="http://schemas.microsoft.com/office/powerpoint/2010/main" val="13864195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79635-A9D9-44D4-9EF2-FA62FFE9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3C383-23F7-493C-BDBB-9E4444AA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官方评分项逐项回应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96C3-48DD-4264-818F-59B2659C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每个分值点都有对应设计和证据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DF41A-74AF-4059-A280-9B0F56E8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0835F-0056-430F-973E-078F013C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0DB75-F2F3-4843-9F60-9CA4B7A8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2E65F-88E6-405F-9154-C2773DC7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163830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CDDC7-1C45-42B3-A2FE-B98B667C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171450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0168F-A2EF-4F75-9E1B-A14B5D41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0FD44-891B-47C6-A26D-586EF452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运行稳定性与鲁棒性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69293-88BF-40D9-A5BC-BDB3FEE7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219075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67286-14E4-41E4-8DAC-C59D71BF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226695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39个测试用例、自检脚本、评分矩阵、实际调用截图待采集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CDC27-BFCC-4207-A411-635079B7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46BEF-A0AA-47A0-AB89-4FB240F1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创新性和应用价值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1E603-9D2F-4488-9067-B32066B9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274320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55E5B-B718-478F-B39F-2B8A29F3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281940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工业现场到办公协同的垂直高频切口，多场景闭环和企业级安全边界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60FFE-CFEA-444A-BA78-AB3B55E3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BF1C6-49C5-4B4A-935E-4836F6E8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结果质量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6AEA0-91A6-45E4-AA11-700912A7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329565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95290-95CA-4690-B898-35B3438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337185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事实/推断/待确认分层，行动项含责任方、验收标准和准备度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0DA9E-593E-474B-B441-21DDBA27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70BF0-091F-4B97-9178-FEEBEBF2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技术设计与场景编排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05F460-F37C-4595-B48D-A72247A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384810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9FFA3-DEBC-4912-9ADB-E1BDF5FC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392430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场景路由、Schema、动作卡、准备度门禁、闭环学习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34FACA-B03A-48FF-9279-19C0FE6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D28DA-12C6-4CC2-941C-F81368D4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工程规范与文档完整性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59732-D333-499A-A8E4-2A86F68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440055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B8546E-CEDF-42F3-BF38-37326F88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447675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README、examples、templates、references、tests、scripts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D8C35-5436-4A9D-93C0-99D130ED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072384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280855-6809-4684-884C-48F69CA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88188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安全合规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49055-54C5-43F2-BB74-E603BF4F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984" y="4953000"/>
            <a:ext cx="7900416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02FB1-D884-40A9-8A0D-A2D1AA1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234" y="5029200"/>
            <a:ext cx="770991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脱敏、SOP边界、拒绝越权放行和危险操作</a:t>
            </a:r>
          </a:p>
        </p:txBody>
      </p:sp>
    </p:spTree>
    <p:extLst>
      <p:ext uri="{BB962C8B-B14F-4D97-AF65-F5344CB8AC3E}">
        <p14:creationId xmlns:p14="http://schemas.microsoft.com/office/powerpoint/2010/main" val="1936825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09E7C-1ABD-477C-8F65-413CB5F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6B4F"/>
                </a:solidFill>
                <a:latin typeface="Microsoft YaHei"/>
                <a:ea typeface="Microsoft YaHei"/>
                <a:cs typeface="Microsoft YaHei"/>
              </a:rPr>
              <a:t>OCAS-SKILL /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412CA-C5E6-4406-9FCB-CB5B720C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下一步证据采集计划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BC8B9-8220-4986-BFA7-01985C17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B63"/>
                </a:solidFill>
                <a:latin typeface="Microsoft YaHei"/>
                <a:ea typeface="Microsoft YaHei"/>
                <a:cs typeface="Microsoft YaHei"/>
              </a:rPr>
              <a:t>夺冠剩余分数来自真实运行和反馈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DC075-BD5B-4DC9-9164-10722E97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8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EA655-C3C5-45A2-9AC6-388C6FE3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61735-A6C3-4F80-9184-9FE74BFC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668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通过赛题页上传 ZIP，保存报名和提交截图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AEA-407A-41A1-A01B-BF241F8A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40E2D-49BF-4489-B61C-6AECCE24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43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审核通过后保存 SkillHub 作品页和下载/收藏数据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0C726-3B0C-41F2-A60A-08DB5EB0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DEC19-5A2B-430E-A454-3EFE8A8A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在 AstronClaw 跑 39 个测试用例，记录成功率、耗时、错误和重试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B5C5A-8D05-49A2-B23E-A88BACDA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9137C-BAC5-4CC3-967C-0CE0C46E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优先保存 T01/T06/T11/T21/T24/T25/T27/T28/T29/T30/T31 调用截图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4D3C7-02A7-42CC-9A86-97D97F26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33A6F-E09A-4DE9-AB17-E4A8612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补充 T33/T34/T35/T36/T37/T38/T39，证明鲁棒性和生产部跨部门协同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266F9-A0E2-4D68-89D8-FEE80CCD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D1B64-78A9-49AB-809D-D035273B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48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录制 60-90 秒 Demo 视频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CBC46-A181-411B-A8E0-D58D088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97826-8317-48E1-BBBA-D138EC4B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243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0211B"/>
                </a:solidFill>
                <a:latin typeface="Microsoft YaHei"/>
                <a:ea typeface="Microsoft YaHei"/>
                <a:cs typeface="Microsoft YaHei"/>
              </a:rPr>
              <a:t>收集制造业/AI 开发者真实试用反馈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3DE56-F755-45EF-A633-5BF4493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286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6B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5D8E0-2AF7-474E-A97E-00A1F1B7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DF3AD-F7C4-4A33-ADE9-5440036C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专家榜</a:t>
            </a:r>
          </a:p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100分证据闭环</a:t>
            </a:r>
          </a:p>
        </p:txBody>
      </p:sp>
    </p:spTree>
    <p:extLst>
      <p:ext uri="{BB962C8B-B14F-4D97-AF65-F5344CB8AC3E}">
        <p14:creationId xmlns:p14="http://schemas.microsoft.com/office/powerpoint/2010/main" val="536393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2026-06-18T08:02:38.3070000Z</dcterms:created>
  <dcterms:modified xsi:type="dcterms:W3CDTF">2026-06-18T08:02:38.3070000Z</dcterms:modified>
</coreProperties>
</file>